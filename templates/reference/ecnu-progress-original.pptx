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78" r:id="rId3"/>
  </p:sldMasterIdLst>
  <p:notesMasterIdLst>
    <p:notesMasterId r:id="rId5"/>
  </p:notesMasterIdLst>
  <p:handoutMasterIdLst>
    <p:handoutMasterId r:id="rId15"/>
  </p:handoutMasterIdLst>
  <p:sldIdLst>
    <p:sldId id="4114" r:id="rId4"/>
    <p:sldId id="6327" r:id="rId6"/>
    <p:sldId id="361" r:id="rId7"/>
    <p:sldId id="6416" r:id="rId8"/>
    <p:sldId id="6412" r:id="rId9"/>
    <p:sldId id="6415" r:id="rId10"/>
    <p:sldId id="6414" r:id="rId11"/>
    <p:sldId id="6328" r:id="rId12"/>
    <p:sldId id="6410" r:id="rId13"/>
    <p:sldId id="6411" r:id="rId14"/>
  </p:sldIdLst>
  <p:sldSz cx="12192000" cy="6858000"/>
  <p:notesSz cx="6797675" cy="9928225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090" userDrawn="1">
          <p15:clr>
            <a:srgbClr val="A4A3A4"/>
          </p15:clr>
        </p15:guide>
        <p15:guide id="3" orient="horz" pos="22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angxy" initials="w" lastIdx="4" clrIdx="0"/>
  <p:cmAuthor id="1" name="Juli May" initials="JM" lastIdx="10" clrIdx="0"/>
  <p:cmAuthor id="2" name="Georgi Meyer" initials="GM" lastIdx="10" clrIdx="1"/>
  <p:cmAuthor id="3" name="Alan Deeth" initials="AD" lastIdx="74" clrIdx="2"/>
  <p:cmAuthor id="4" name="David Jeppesen" initials="DJ" lastIdx="83" clrIdx="3"/>
  <p:cmAuthor id="5" name="John Karwoski" initials="JK" lastIdx="50" clrIdx="4"/>
  <p:cmAuthor id="6" name="zhao" initials="" lastIdx="10" clrIdx="5"/>
  <p:cmAuthor id="7" name="Joe Staples" initials="JS" lastIdx="3" clrIdx="6"/>
  <p:cmAuthor id="8" name="Simon Johnson" initials="SJ" lastIdx="6" clrIdx="7"/>
  <p:cmAuthor id="10" name="jinch" initials="j" lastIdx="1" clrIdx="9"/>
  <p:cmAuthor id="11" name="Microsoft Office User" initials="MOU" lastIdx="1" clrIdx="10"/>
  <p:cmAuthor id="12" name="tanghaibo" initials="t" lastIdx="1" clrIdx="11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72C4"/>
    <a:srgbClr val="F4BBBB"/>
    <a:srgbClr val="818181"/>
    <a:srgbClr val="A36B44"/>
    <a:srgbClr val="5882AA"/>
    <a:srgbClr val="71905D"/>
    <a:srgbClr val="7FB541"/>
    <a:srgbClr val="8FAADC"/>
    <a:srgbClr val="DC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6525" autoAdjust="0"/>
  </p:normalViewPr>
  <p:slideViewPr>
    <p:cSldViewPr showGuides="1">
      <p:cViewPr varScale="1">
        <p:scale>
          <a:sx n="111" d="100"/>
          <a:sy n="111" d="100"/>
        </p:scale>
        <p:origin x="114" y="198"/>
      </p:cViewPr>
      <p:guideLst>
        <p:guide pos="4090"/>
        <p:guide orient="horz" pos="2270"/>
      </p:guideLst>
    </p:cSldViewPr>
  </p:slideViewPr>
  <p:outlineViewPr>
    <p:cViewPr>
      <p:scale>
        <a:sx n="33" d="100"/>
        <a:sy n="33" d="100"/>
      </p:scale>
      <p:origin x="0" y="-15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45" d="100"/>
        <a:sy n="45" d="100"/>
      </p:scale>
      <p:origin x="0" y="0"/>
    </p:cViewPr>
  </p:sorterViewPr>
  <p:gridSpacing cx="90001" cy="90001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7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265B4-CD0D-4543-8E9E-6FB20443F5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1394" y="1241425"/>
            <a:ext cx="5954889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7B04E-F35F-411E-907F-A64B4026CB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1241425"/>
            <a:ext cx="5956300" cy="33496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  <a:p>
            <a:r>
              <a:rPr lang="en-US" altLang="zh-CN" b="1" dirty="0">
                <a:effectLst/>
              </a:rPr>
              <a:t>dMIR (deterministic middle IR)</a:t>
            </a:r>
            <a:r>
              <a:rPr lang="zh-CN" altLang="en-US" dirty="0">
                <a:effectLst/>
              </a:rPr>
              <a:t>：</a:t>
            </a:r>
            <a:r>
              <a:rPr lang="en-US" altLang="zh-CN" dirty="0">
                <a:effectLst/>
              </a:rPr>
              <a:t>DTVM </a:t>
            </a:r>
            <a:r>
              <a:rPr lang="zh-CN" altLang="en-US" dirty="0">
                <a:effectLst/>
              </a:rPr>
              <a:t>的确定性中间表示，所有语言最后都会降到 </a:t>
            </a:r>
            <a:r>
              <a:rPr lang="en-US" altLang="zh-CN" dirty="0">
                <a:effectLst/>
              </a:rPr>
              <a:t>dMIR</a:t>
            </a:r>
            <a:r>
              <a:rPr lang="zh-CN" altLang="en-US" dirty="0">
                <a:effectLst/>
              </a:rPr>
              <a:t>，便于做统一的安全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确定性检查与优化。</a:t>
            </a:r>
            <a:endParaRPr lang="zh-CN" altLang="en-US" dirty="0">
              <a:effectLst/>
            </a:endParaRPr>
          </a:p>
          <a:p>
            <a:r>
              <a:rPr lang="en-US" altLang="zh-CN" b="1" dirty="0">
                <a:effectLst/>
              </a:rPr>
              <a:t>Zeta – JIT Core Engine</a:t>
            </a:r>
            <a:r>
              <a:rPr lang="zh-CN" altLang="en-US" dirty="0">
                <a:effectLst/>
              </a:rPr>
              <a:t>：分层懒编译（</a:t>
            </a:r>
            <a:r>
              <a:rPr lang="en-US" altLang="zh-CN" b="1" dirty="0">
                <a:effectLst/>
              </a:rPr>
              <a:t>Tiered Lazy JIT</a:t>
            </a:r>
            <a:r>
              <a:rPr lang="zh-CN" altLang="en-US" dirty="0">
                <a:effectLst/>
              </a:rPr>
              <a:t>）核心，支持</a:t>
            </a:r>
            <a:r>
              <a:rPr lang="en-US" altLang="zh-CN" b="1" dirty="0">
                <a:effectLst/>
              </a:rPr>
              <a:t>Trampoline </a:t>
            </a:r>
            <a:r>
              <a:rPr lang="zh-CN" altLang="en-US" b="1" dirty="0">
                <a:effectLst/>
              </a:rPr>
              <a:t>热切换</a:t>
            </a:r>
            <a:r>
              <a:rPr lang="zh-CN" altLang="en-US" dirty="0">
                <a:effectLst/>
              </a:rPr>
              <a:t>：先用极快的低优化代码起跑，需要时再热切换到高优化版本。</a:t>
            </a:r>
            <a:endParaRPr lang="zh-CN" altLang="en-US" dirty="0">
              <a:effectLst/>
            </a:endParaRPr>
          </a:p>
          <a:p>
            <a:r>
              <a:rPr lang="en-US" altLang="zh-CN" b="1" dirty="0">
                <a:effectLst/>
              </a:rPr>
              <a:t>Runtime – Optimized VM Runtimes</a:t>
            </a:r>
            <a:r>
              <a:rPr lang="zh-CN" altLang="en-US" dirty="0">
                <a:effectLst/>
              </a:rPr>
              <a:t>：针对多平台的运行时适配，内置</a:t>
            </a:r>
            <a:r>
              <a:rPr lang="en-US" altLang="zh-CN" b="1" dirty="0">
                <a:effectLst/>
              </a:rPr>
              <a:t>Gas </a:t>
            </a:r>
            <a:r>
              <a:rPr lang="zh-CN" altLang="en-US" b="1" dirty="0">
                <a:effectLst/>
              </a:rPr>
              <a:t>计量</a:t>
            </a:r>
            <a:r>
              <a:rPr lang="zh-CN" altLang="en-US" dirty="0">
                <a:effectLst/>
              </a:rPr>
              <a:t>（两套模式 </a:t>
            </a:r>
            <a:r>
              <a:rPr lang="en-US" altLang="zh-CN" b="1" dirty="0">
                <a:effectLst/>
              </a:rPr>
              <a:t>FLAT/FLAS</a:t>
            </a:r>
            <a:r>
              <a:rPr lang="zh-CN" altLang="en-US" dirty="0">
                <a:effectLst/>
              </a:rPr>
              <a:t>）与</a:t>
            </a:r>
            <a:r>
              <a:rPr lang="zh-CN" altLang="en-US" b="1" dirty="0">
                <a:effectLst/>
              </a:rPr>
              <a:t>溢出检查</a:t>
            </a:r>
            <a:r>
              <a:rPr lang="zh-CN" altLang="en-US" dirty="0">
                <a:effectLst/>
              </a:rPr>
              <a:t>（</a:t>
            </a:r>
            <a:r>
              <a:rPr lang="en-US" altLang="zh-CN" dirty="0">
                <a:effectLst/>
              </a:rPr>
              <a:t>CPU </a:t>
            </a:r>
            <a:r>
              <a:rPr lang="zh-CN" altLang="en-US" dirty="0">
                <a:effectLst/>
              </a:rPr>
              <a:t>标志位 </a:t>
            </a:r>
            <a:r>
              <a:rPr lang="en-US" altLang="zh-CN" dirty="0">
                <a:effectLst/>
              </a:rPr>
              <a:t>+ inline</a:t>
            </a:r>
            <a:r>
              <a:rPr lang="zh-CN" altLang="en-US" dirty="0">
                <a:effectLst/>
              </a:rPr>
              <a:t>）。</a:t>
            </a:r>
            <a:endParaRPr lang="zh-CN" altLang="en-US" dirty="0">
              <a:effectLst/>
            </a:endParaRPr>
          </a:p>
          <a:p>
            <a:r>
              <a:rPr lang="zh-CN" altLang="en-US" b="1" dirty="0">
                <a:effectLst/>
              </a:rPr>
              <a:t>多语言支持</a:t>
            </a:r>
            <a:r>
              <a:rPr lang="zh-CN" altLang="en-US" dirty="0">
                <a:effectLst/>
              </a:rPr>
              <a:t>：支持不同编程语言的编译与执行，涵盖了从</a:t>
            </a:r>
            <a:r>
              <a:rPr lang="en-US" altLang="zh-CN" dirty="0">
                <a:effectLst/>
              </a:rPr>
              <a:t>Solidity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C++</a:t>
            </a:r>
            <a:r>
              <a:rPr lang="zh-CN" altLang="en-US" dirty="0">
                <a:effectLst/>
              </a:rPr>
              <a:t>到</a:t>
            </a:r>
            <a:r>
              <a:rPr lang="en-US" altLang="zh-CN" dirty="0">
                <a:effectLst/>
              </a:rPr>
              <a:t>Rust</a:t>
            </a:r>
            <a:r>
              <a:rPr lang="zh-CN" altLang="en-US" dirty="0">
                <a:effectLst/>
              </a:rPr>
              <a:t>等常用语言。</a:t>
            </a:r>
            <a:r>
              <a:rPr lang="en-US" altLang="zh-CN" dirty="0">
                <a:effectLst/>
              </a:rPr>
              <a:t>SDK</a:t>
            </a:r>
            <a:r>
              <a:rPr lang="zh-CN" altLang="en-US" dirty="0">
                <a:effectLst/>
              </a:rPr>
              <a:t>提供了一个统一的编译接口，使得开发者可以轻松将其合约转换为</a:t>
            </a:r>
            <a:r>
              <a:rPr lang="en-US" altLang="zh-CN" dirty="0">
                <a:effectLst/>
              </a:rPr>
              <a:t>WebAssembly</a:t>
            </a:r>
            <a:r>
              <a:rPr lang="zh-CN" altLang="en-US" dirty="0">
                <a:effectLst/>
              </a:rPr>
              <a:t>（</a:t>
            </a:r>
            <a:r>
              <a:rPr lang="en-US" altLang="zh-CN" dirty="0">
                <a:effectLst/>
              </a:rPr>
              <a:t>Wasm</a:t>
            </a:r>
            <a:r>
              <a:rPr lang="zh-CN" altLang="en-US" dirty="0">
                <a:effectLst/>
              </a:rPr>
              <a:t>）模块进行执行。</a:t>
            </a:r>
            <a:endParaRPr lang="zh-CN" altLang="en-US" dirty="0">
              <a:effectLst/>
            </a:endParaRPr>
          </a:p>
          <a:p>
            <a:r>
              <a:rPr lang="en-US" altLang="zh-CN" b="1" dirty="0">
                <a:effectLst/>
              </a:rPr>
              <a:t>DTVM SDK</a:t>
            </a:r>
            <a:r>
              <a:rPr lang="zh-CN" altLang="en-US" dirty="0">
                <a:effectLst/>
              </a:rPr>
              <a:t>：</a:t>
            </a:r>
            <a:endParaRPr lang="zh-CN" altLang="en-US" dirty="0">
              <a:effectLst/>
            </a:endParaRPr>
          </a:p>
          <a:p>
            <a:r>
              <a:rPr lang="zh-CN" altLang="en-US" b="1" dirty="0">
                <a:effectLst/>
              </a:rPr>
              <a:t>多语言支持</a:t>
            </a:r>
            <a:r>
              <a:rPr lang="zh-CN" altLang="en-US" dirty="0">
                <a:effectLst/>
              </a:rPr>
              <a:t>：支持不同编程语言的编译与执行，涵盖了从</a:t>
            </a:r>
            <a:r>
              <a:rPr lang="en-US" altLang="zh-CN" dirty="0">
                <a:effectLst/>
              </a:rPr>
              <a:t>Solidity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C++</a:t>
            </a:r>
            <a:r>
              <a:rPr lang="zh-CN" altLang="en-US" dirty="0">
                <a:effectLst/>
              </a:rPr>
              <a:t>到</a:t>
            </a:r>
            <a:r>
              <a:rPr lang="en-US" altLang="zh-CN" dirty="0">
                <a:effectLst/>
              </a:rPr>
              <a:t>Rust</a:t>
            </a:r>
            <a:r>
              <a:rPr lang="zh-CN" altLang="en-US" dirty="0">
                <a:effectLst/>
              </a:rPr>
              <a:t>等常用语言。</a:t>
            </a:r>
            <a:r>
              <a:rPr lang="en-US" altLang="zh-CN" dirty="0">
                <a:effectLst/>
              </a:rPr>
              <a:t>SDK</a:t>
            </a:r>
            <a:r>
              <a:rPr lang="zh-CN" altLang="en-US" dirty="0">
                <a:effectLst/>
              </a:rPr>
              <a:t>提供了一个统一的编译接口，使得开发者可以轻松将其合约转换为</a:t>
            </a:r>
            <a:r>
              <a:rPr lang="en-US" altLang="zh-CN" dirty="0">
                <a:effectLst/>
              </a:rPr>
              <a:t>WebAssembly</a:t>
            </a:r>
            <a:r>
              <a:rPr lang="zh-CN" altLang="en-US" dirty="0">
                <a:effectLst/>
              </a:rPr>
              <a:t>（</a:t>
            </a:r>
            <a:r>
              <a:rPr lang="en-US" altLang="zh-CN" dirty="0">
                <a:effectLst/>
              </a:rPr>
              <a:t>Wasm</a:t>
            </a:r>
            <a:r>
              <a:rPr lang="zh-CN" altLang="en-US" dirty="0">
                <a:effectLst/>
              </a:rPr>
              <a:t>）模块进行执行。 </a:t>
            </a:r>
            <a:endParaRPr lang="zh-CN" altLang="en-US" dirty="0">
              <a:effectLst/>
            </a:endParaRPr>
          </a:p>
          <a:p>
            <a:r>
              <a:rPr lang="en-US" altLang="zh-CN" b="1" dirty="0">
                <a:effectLst/>
              </a:rPr>
              <a:t>DTVM</a:t>
            </a:r>
            <a:r>
              <a:rPr lang="zh-CN" altLang="en-US" b="1" dirty="0">
                <a:effectLst/>
              </a:rPr>
              <a:t>工具（</a:t>
            </a:r>
            <a:r>
              <a:rPr lang="en-US" altLang="zh-CN" b="1" dirty="0">
                <a:effectLst/>
              </a:rPr>
              <a:t>SmartCogent</a:t>
            </a:r>
            <a:r>
              <a:rPr lang="zh-CN" altLang="en-US" b="1" dirty="0">
                <a:effectLst/>
              </a:rPr>
              <a:t>）</a:t>
            </a:r>
            <a:r>
              <a:rPr lang="zh-CN" altLang="en-US" dirty="0">
                <a:effectLst/>
              </a:rPr>
              <a:t>： </a:t>
            </a:r>
            <a:endParaRPr lang="zh-CN" altLang="en-US" dirty="0">
              <a:effectLst/>
            </a:endParaRPr>
          </a:p>
          <a:p>
            <a:r>
              <a:rPr lang="zh-CN" altLang="en-US" b="1" dirty="0">
                <a:effectLst/>
              </a:rPr>
              <a:t>核心功能</a:t>
            </a:r>
            <a:r>
              <a:rPr lang="zh-CN" altLang="en-US" dirty="0">
                <a:effectLst/>
              </a:rPr>
              <a:t>：此部分包括了一个集成的开发环境（</a:t>
            </a:r>
            <a:r>
              <a:rPr lang="en-US" altLang="zh-CN" dirty="0">
                <a:effectLst/>
              </a:rPr>
              <a:t>IDE</a:t>
            </a:r>
            <a:r>
              <a:rPr lang="zh-CN" altLang="en-US" dirty="0">
                <a:effectLst/>
              </a:rPr>
              <a:t>），支持智能合约的代码生成、运行时调试、性能分析、以及合约审计等功能。</a:t>
            </a:r>
            <a:endParaRPr lang="zh-CN" altLang="en-US" dirty="0">
              <a:effectLst/>
            </a:endParaRPr>
          </a:p>
          <a:p>
            <a:r>
              <a:rPr lang="zh-CN" altLang="en-US" b="1" dirty="0">
                <a:effectLst/>
              </a:rPr>
              <a:t>多代理工作流</a:t>
            </a:r>
            <a:r>
              <a:rPr lang="zh-CN" altLang="en-US" dirty="0">
                <a:effectLst/>
              </a:rPr>
              <a:t>：结合了</a:t>
            </a:r>
            <a:r>
              <a:rPr lang="en-US" altLang="zh-CN" dirty="0">
                <a:effectLst/>
              </a:rPr>
              <a:t>LLM</a:t>
            </a:r>
            <a:r>
              <a:rPr lang="zh-CN" altLang="en-US" dirty="0">
                <a:effectLst/>
              </a:rPr>
              <a:t>（大语言模型）代理，如</a:t>
            </a:r>
            <a:r>
              <a:rPr lang="en-US" altLang="zh-CN" dirty="0">
                <a:effectLst/>
              </a:rPr>
              <a:t>Qwen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DeepSeek</a:t>
            </a:r>
            <a:r>
              <a:rPr lang="zh-CN" altLang="en-US" dirty="0">
                <a:effectLst/>
              </a:rPr>
              <a:t>等，能够提供自动化的代码生成、错误检查和智能调试。通过**</a:t>
            </a:r>
            <a:r>
              <a:rPr lang="en-US" altLang="zh-CN" dirty="0">
                <a:effectLst/>
              </a:rPr>
              <a:t>RAG</a:t>
            </a:r>
            <a:r>
              <a:rPr lang="zh-CN" altLang="en-US" dirty="0">
                <a:effectLst/>
              </a:rPr>
              <a:t>（检索增强生成）**技术，系统可以动态检索并利用外部数据提升代码质量。</a:t>
            </a:r>
            <a:endParaRPr lang="zh-CN" altLang="en-US" dirty="0">
              <a:effectLst/>
            </a:endParaRPr>
          </a:p>
          <a:p>
            <a:r>
              <a:rPr lang="zh-CN" altLang="en-US" b="1" dirty="0">
                <a:effectLst/>
              </a:rPr>
              <a:t>集成的工具链（</a:t>
            </a:r>
            <a:r>
              <a:rPr lang="en-US" altLang="zh-CN" b="1" dirty="0">
                <a:effectLst/>
              </a:rPr>
              <a:t>MCP Toolchain</a:t>
            </a:r>
            <a:r>
              <a:rPr lang="zh-CN" altLang="en-US" b="1" dirty="0">
                <a:effectLst/>
              </a:rPr>
              <a:t>）</a:t>
            </a:r>
            <a:r>
              <a:rPr lang="zh-CN" altLang="en-US" dirty="0">
                <a:effectLst/>
              </a:rPr>
              <a:t>：用于优化开发流程，支持不同的编程语言，如</a:t>
            </a:r>
            <a:r>
              <a:rPr lang="en-US" altLang="zh-CN" dirty="0">
                <a:effectLst/>
              </a:rPr>
              <a:t>Solidity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C++</a:t>
            </a:r>
            <a:r>
              <a:rPr lang="zh-CN" altLang="en-US" dirty="0">
                <a:effectLst/>
              </a:rPr>
              <a:t>等，确保跨语言开发的高效性。</a:t>
            </a:r>
            <a:endParaRPr lang="zh-CN" altLang="en-US" dirty="0">
              <a:effectLst/>
            </a:endParaRPr>
          </a:p>
          <a:p>
            <a:r>
              <a:rPr lang="en-US" altLang="zh-CN" dirty="0">
                <a:effectLst/>
              </a:rPr>
              <a:t>DTVM</a:t>
            </a:r>
            <a:r>
              <a:rPr lang="zh-CN" altLang="en-US" dirty="0">
                <a:effectLst/>
              </a:rPr>
              <a:t>架构的逻辑分层设计则侧重于不同层级的职责和功能：</a:t>
            </a:r>
            <a:endParaRPr lang="zh-CN" altLang="en-US" dirty="0">
              <a:effectLst/>
            </a:endParaRPr>
          </a:p>
          <a:p>
            <a:r>
              <a:rPr lang="zh-CN" altLang="en-US" b="1" dirty="0">
                <a:effectLst/>
              </a:rPr>
              <a:t>工具链层（</a:t>
            </a:r>
            <a:r>
              <a:rPr lang="en-US" altLang="zh-CN" b="1" dirty="0">
                <a:effectLst/>
              </a:rPr>
              <a:t>Toolchain Layer</a:t>
            </a:r>
            <a:r>
              <a:rPr lang="zh-CN" altLang="en-US" b="1" dirty="0">
                <a:effectLst/>
              </a:rPr>
              <a:t>）</a:t>
            </a:r>
            <a:r>
              <a:rPr lang="zh-CN" altLang="en-US" dirty="0">
                <a:effectLst/>
              </a:rPr>
              <a:t>：</a:t>
            </a:r>
            <a:endParaRPr lang="zh-CN" altLang="en-US" dirty="0">
              <a:effectLst/>
            </a:endParaRPr>
          </a:p>
          <a:p>
            <a:pPr lvl="1"/>
            <a:r>
              <a:rPr lang="en-US" altLang="zh-CN" b="1" dirty="0">
                <a:effectLst/>
              </a:rPr>
              <a:t>AI</a:t>
            </a:r>
            <a:r>
              <a:rPr lang="zh-CN" altLang="en-US" b="1" dirty="0">
                <a:effectLst/>
              </a:rPr>
              <a:t>增强的开发矩阵</a:t>
            </a:r>
            <a:r>
              <a:rPr lang="zh-CN" altLang="en-US" dirty="0">
                <a:effectLst/>
              </a:rPr>
              <a:t>：从智能合约的全生命周期出发，集成了</a:t>
            </a:r>
            <a:r>
              <a:rPr lang="en-US" altLang="zh-CN" dirty="0">
                <a:effectLst/>
              </a:rPr>
              <a:t>AI</a:t>
            </a:r>
            <a:r>
              <a:rPr lang="zh-CN" altLang="en-US" dirty="0">
                <a:effectLst/>
              </a:rPr>
              <a:t>辅助的编码、调试分析、漏洞扫描和自动修复功能。这一层确保了开发过程的智能化和自动化，帮助开发者提高效率和代码质量。</a:t>
            </a:r>
            <a:endParaRPr lang="zh-CN" altLang="en-US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完整生命周期支持</a:t>
            </a:r>
            <a:r>
              <a:rPr lang="zh-CN" altLang="en-US" dirty="0">
                <a:effectLst/>
              </a:rPr>
              <a:t>：确保了从代码生成、调试、性能分析到合约审计的全过程管理，减少了开发中的人工干预。</a:t>
            </a:r>
            <a:endParaRPr lang="zh-CN" altLang="en-US" dirty="0">
              <a:effectLst/>
            </a:endParaRPr>
          </a:p>
          <a:p>
            <a:r>
              <a:rPr lang="zh-CN" altLang="en-US" b="1" dirty="0">
                <a:effectLst/>
              </a:rPr>
              <a:t>适配层（</a:t>
            </a:r>
            <a:r>
              <a:rPr lang="en-US" altLang="zh-CN" b="1" dirty="0">
                <a:effectLst/>
              </a:rPr>
              <a:t>Adaptation Layer</a:t>
            </a:r>
            <a:r>
              <a:rPr lang="zh-CN" altLang="en-US" b="1" dirty="0">
                <a:effectLst/>
              </a:rPr>
              <a:t>）</a:t>
            </a:r>
            <a:r>
              <a:rPr lang="zh-CN" altLang="en-US" dirty="0">
                <a:effectLst/>
              </a:rPr>
              <a:t>：</a:t>
            </a:r>
            <a:endParaRPr lang="zh-CN" altLang="en-US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多语言互操作性</a:t>
            </a:r>
            <a:r>
              <a:rPr lang="zh-CN" altLang="en-US" dirty="0">
                <a:effectLst/>
              </a:rPr>
              <a:t>：支持跨语言的智能合约开发，确保</a:t>
            </a:r>
            <a:r>
              <a:rPr lang="en-US" altLang="zh-CN" dirty="0">
                <a:effectLst/>
              </a:rPr>
              <a:t>Solidity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C++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Rust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Go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Java</a:t>
            </a:r>
            <a:r>
              <a:rPr lang="zh-CN" altLang="en-US" dirty="0">
                <a:effectLst/>
              </a:rPr>
              <a:t>等语言的兼容性，拓展了</a:t>
            </a:r>
            <a:r>
              <a:rPr lang="en-US" altLang="zh-CN" dirty="0">
                <a:effectLst/>
              </a:rPr>
              <a:t>DTVM</a:t>
            </a:r>
            <a:r>
              <a:rPr lang="zh-CN" altLang="en-US" dirty="0">
                <a:effectLst/>
              </a:rPr>
              <a:t>的使用场景。</a:t>
            </a:r>
            <a:endParaRPr lang="zh-CN" altLang="en-US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跨链迁移的标准化</a:t>
            </a:r>
            <a:r>
              <a:rPr lang="zh-CN" altLang="en-US" dirty="0">
                <a:effectLst/>
              </a:rPr>
              <a:t>：通过统一的编译标准，降低了开发者在不同区块链之间迁移的成本，促进了生态系统的扩展。</a:t>
            </a:r>
            <a:endParaRPr lang="zh-CN" altLang="en-US" dirty="0">
              <a:effectLst/>
            </a:endParaRPr>
          </a:p>
          <a:p>
            <a:r>
              <a:rPr lang="zh-CN" altLang="en-US" b="1" dirty="0">
                <a:effectLst/>
              </a:rPr>
              <a:t>执行层（</a:t>
            </a:r>
            <a:r>
              <a:rPr lang="en-US" altLang="zh-CN" b="1" dirty="0">
                <a:effectLst/>
              </a:rPr>
              <a:t>Execution Layer</a:t>
            </a:r>
            <a:r>
              <a:rPr lang="zh-CN" altLang="en-US" b="1" dirty="0">
                <a:effectLst/>
              </a:rPr>
              <a:t>）</a:t>
            </a:r>
            <a:r>
              <a:rPr lang="zh-CN" altLang="en-US" dirty="0">
                <a:effectLst/>
              </a:rPr>
              <a:t>：</a:t>
            </a:r>
            <a:endParaRPr lang="zh-CN" altLang="en-US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确定性执行</a:t>
            </a:r>
            <a:r>
              <a:rPr lang="zh-CN" altLang="en-US" dirty="0">
                <a:effectLst/>
              </a:rPr>
              <a:t>：此层的关键在于确保智能合约在不同平台上的一致性，特别是对于分布式共识的要求，如堆栈溢出处理、数值计算的确定性等。</a:t>
            </a:r>
            <a:endParaRPr lang="zh-CN" altLang="en-US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应用级</a:t>
            </a:r>
            <a:r>
              <a:rPr lang="en-US" altLang="zh-CN" b="1" dirty="0">
                <a:effectLst/>
              </a:rPr>
              <a:t>TEE</a:t>
            </a:r>
            <a:r>
              <a:rPr lang="zh-CN" altLang="en-US" b="1" dirty="0">
                <a:effectLst/>
              </a:rPr>
              <a:t>引擎</a:t>
            </a:r>
            <a:r>
              <a:rPr lang="zh-CN" altLang="en-US" dirty="0">
                <a:effectLst/>
              </a:rPr>
              <a:t>：通过本地应用级的</a:t>
            </a:r>
            <a:r>
              <a:rPr lang="en-US" altLang="zh-CN" dirty="0">
                <a:effectLst/>
              </a:rPr>
              <a:t>TEE</a:t>
            </a:r>
            <a:r>
              <a:rPr lang="zh-CN" altLang="en-US" dirty="0">
                <a:effectLst/>
              </a:rPr>
              <a:t>技术，最小化了系统中的信任基线，确保了执行的安全性和可控性。</a:t>
            </a:r>
            <a:endParaRPr lang="zh-CN" altLang="en-US" dirty="0">
              <a:effectLst/>
            </a:endParaRPr>
          </a:p>
          <a:p>
            <a:r>
              <a:rPr lang="zh-CN" altLang="en-US" b="1" dirty="0">
                <a:effectLst/>
              </a:rPr>
              <a:t>核心层（</a:t>
            </a:r>
            <a:r>
              <a:rPr lang="en-US" altLang="zh-CN" b="1" dirty="0">
                <a:effectLst/>
              </a:rPr>
              <a:t>Kernel Layer</a:t>
            </a:r>
            <a:r>
              <a:rPr lang="zh-CN" altLang="en-US" b="1" dirty="0">
                <a:effectLst/>
              </a:rPr>
              <a:t>）</a:t>
            </a:r>
            <a:r>
              <a:rPr lang="zh-CN" altLang="en-US" dirty="0">
                <a:effectLst/>
              </a:rPr>
              <a:t>：</a:t>
            </a:r>
            <a:endParaRPr lang="zh-CN" altLang="en-US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分层懒惰</a:t>
            </a:r>
            <a:r>
              <a:rPr lang="en-US" altLang="zh-CN" b="1" dirty="0">
                <a:effectLst/>
              </a:rPr>
              <a:t>JIT</a:t>
            </a:r>
            <a:r>
              <a:rPr lang="zh-CN" altLang="en-US" b="1" dirty="0">
                <a:effectLst/>
              </a:rPr>
              <a:t>编译框架</a:t>
            </a:r>
            <a:r>
              <a:rPr lang="zh-CN" altLang="en-US" dirty="0">
                <a:effectLst/>
              </a:rPr>
              <a:t>：这一层通过精细的编译优化技术，在微秒级别实现智能合约的执行，并且支持跨平台的高效性能。通过多</a:t>
            </a:r>
            <a:r>
              <a:rPr lang="en-US" altLang="zh-CN" dirty="0">
                <a:effectLst/>
              </a:rPr>
              <a:t>-pass JIT</a:t>
            </a:r>
            <a:r>
              <a:rPr lang="zh-CN" altLang="en-US" dirty="0">
                <a:effectLst/>
              </a:rPr>
              <a:t>技术，不仅能够提升低延迟的执行，还能保证高吞吐量的计算</a:t>
            </a:r>
            <a:r>
              <a:rPr lang="en-US" altLang="zh-CN" dirty="0">
                <a:effectLst/>
              </a:rPr>
              <a:t>-intensive</a:t>
            </a:r>
            <a:r>
              <a:rPr lang="zh-CN" altLang="en-US" dirty="0">
                <a:effectLst/>
              </a:rPr>
              <a:t>应用的需求。</a:t>
            </a:r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E374D-6E28-41D4-B529-E46F9BB595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94D467-3326-49CD-82F2-206809211F7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94D467-3326-49CD-82F2-206809211F7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感谢大家的聆听，请各位专家批评指正。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918316"/>
          </a:xfrm>
          <a:custGeom>
            <a:avLst/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" y="-12947"/>
            <a:ext cx="5446133" cy="6870947"/>
          </a:xfrm>
          <a:custGeom>
            <a:avLst/>
            <a:gdLst>
              <a:gd name="connsiteX0" fmla="*/ 0 w 5446133"/>
              <a:gd name="connsiteY0" fmla="*/ 0 h 6870947"/>
              <a:gd name="connsiteX1" fmla="*/ 5446133 w 5446133"/>
              <a:gd name="connsiteY1" fmla="*/ 0 h 6870947"/>
              <a:gd name="connsiteX2" fmla="*/ 5446133 w 5446133"/>
              <a:gd name="connsiteY2" fmla="*/ 6870947 h 6870947"/>
              <a:gd name="connsiteX3" fmla="*/ 0 w 5446133"/>
              <a:gd name="connsiteY3" fmla="*/ 6870947 h 687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6133" h="6870947">
                <a:moveTo>
                  <a:pt x="0" y="0"/>
                </a:moveTo>
                <a:lnTo>
                  <a:pt x="5446133" y="0"/>
                </a:lnTo>
                <a:lnTo>
                  <a:pt x="5446133" y="6870947"/>
                </a:lnTo>
                <a:lnTo>
                  <a:pt x="0" y="687094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717074"/>
          </a:xfrm>
          <a:custGeom>
            <a:avLst/>
            <a:gdLst>
              <a:gd name="connsiteX0" fmla="*/ 0 w 12192000"/>
              <a:gd name="connsiteY0" fmla="*/ 0 h 2717074"/>
              <a:gd name="connsiteX1" fmla="*/ 12192000 w 12192000"/>
              <a:gd name="connsiteY1" fmla="*/ 0 h 2717074"/>
              <a:gd name="connsiteX2" fmla="*/ 12192000 w 12192000"/>
              <a:gd name="connsiteY2" fmla="*/ 2717074 h 2717074"/>
              <a:gd name="connsiteX3" fmla="*/ 0 w 12192000"/>
              <a:gd name="connsiteY3" fmla="*/ 2717074 h 2717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717074">
                <a:moveTo>
                  <a:pt x="0" y="0"/>
                </a:moveTo>
                <a:lnTo>
                  <a:pt x="12192000" y="0"/>
                </a:lnTo>
                <a:lnTo>
                  <a:pt x="12192000" y="2717074"/>
                </a:lnTo>
                <a:lnTo>
                  <a:pt x="0" y="271707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8697951" y="0"/>
            <a:ext cx="3494049" cy="6858000"/>
          </a:xfrm>
          <a:custGeom>
            <a:avLst/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194892" cy="6858000"/>
          </a:xfrm>
          <a:custGeom>
            <a:avLst/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740435" y="0"/>
            <a:ext cx="5451567" cy="6858000"/>
          </a:xfrm>
          <a:custGeom>
            <a:avLst/>
            <a:gdLst>
              <a:gd name="connsiteX0" fmla="*/ 0 w 5451566"/>
              <a:gd name="connsiteY0" fmla="*/ 0 h 6858000"/>
              <a:gd name="connsiteX1" fmla="*/ 5451566 w 5451566"/>
              <a:gd name="connsiteY1" fmla="*/ 0 h 6858000"/>
              <a:gd name="connsiteX2" fmla="*/ 5451566 w 5451566"/>
              <a:gd name="connsiteY2" fmla="*/ 6858000 h 6858000"/>
              <a:gd name="connsiteX3" fmla="*/ 0 w 54515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1566" h="6858000">
                <a:moveTo>
                  <a:pt x="0" y="0"/>
                </a:moveTo>
                <a:lnTo>
                  <a:pt x="5451566" y="0"/>
                </a:lnTo>
                <a:lnTo>
                  <a:pt x="545156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2"/>
            <a:ext cx="12192000" cy="6047117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2192000" cy="2486722"/>
          </a:xfrm>
          <a:custGeom>
            <a:avLst/>
            <a:gdLst>
              <a:gd name="connsiteX0" fmla="*/ 0 w 12192000"/>
              <a:gd name="connsiteY0" fmla="*/ 0 h 2486722"/>
              <a:gd name="connsiteX1" fmla="*/ 12192000 w 12192000"/>
              <a:gd name="connsiteY1" fmla="*/ 0 h 2486722"/>
              <a:gd name="connsiteX2" fmla="*/ 12192000 w 12192000"/>
              <a:gd name="connsiteY2" fmla="*/ 2486722 h 2486722"/>
              <a:gd name="connsiteX3" fmla="*/ 0 w 12192000"/>
              <a:gd name="connsiteY3" fmla="*/ 2486722 h 248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486722">
                <a:moveTo>
                  <a:pt x="0" y="0"/>
                </a:moveTo>
                <a:lnTo>
                  <a:pt x="12192000" y="0"/>
                </a:lnTo>
                <a:lnTo>
                  <a:pt x="12192000" y="2486722"/>
                </a:lnTo>
                <a:lnTo>
                  <a:pt x="0" y="248672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3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317625" y="1333500"/>
            <a:ext cx="2528888" cy="150336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4" name="图片占位符 9"/>
          <p:cNvSpPr>
            <a:spLocks noGrp="1"/>
          </p:cNvSpPr>
          <p:nvPr>
            <p:ph type="pic" sz="quarter" idx="11"/>
          </p:nvPr>
        </p:nvSpPr>
        <p:spPr>
          <a:xfrm>
            <a:off x="4831275" y="1344821"/>
            <a:ext cx="2528888" cy="150336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5" name="图片占位符 9"/>
          <p:cNvSpPr>
            <a:spLocks noGrp="1"/>
          </p:cNvSpPr>
          <p:nvPr>
            <p:ph type="pic" sz="quarter" idx="12"/>
          </p:nvPr>
        </p:nvSpPr>
        <p:spPr>
          <a:xfrm>
            <a:off x="8344925" y="1333500"/>
            <a:ext cx="2528888" cy="150336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016227" y="2773142"/>
            <a:ext cx="4972049" cy="2952750"/>
          </a:xfrm>
          <a:custGeom>
            <a:avLst/>
            <a:gdLst>
              <a:gd name="connsiteX0" fmla="*/ 0 w 4972049"/>
              <a:gd name="connsiteY0" fmla="*/ 0 h 2952750"/>
              <a:gd name="connsiteX1" fmla="*/ 4972049 w 4972049"/>
              <a:gd name="connsiteY1" fmla="*/ 0 h 2952750"/>
              <a:gd name="connsiteX2" fmla="*/ 4972049 w 4972049"/>
              <a:gd name="connsiteY2" fmla="*/ 2952750 h 2952750"/>
              <a:gd name="connsiteX3" fmla="*/ 0 w 4972049"/>
              <a:gd name="connsiteY3" fmla="*/ 2952750 h 295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2049" h="2952750">
                <a:moveTo>
                  <a:pt x="0" y="0"/>
                </a:moveTo>
                <a:lnTo>
                  <a:pt x="4972049" y="0"/>
                </a:lnTo>
                <a:lnTo>
                  <a:pt x="4972049" y="2952750"/>
                </a:lnTo>
                <a:lnTo>
                  <a:pt x="0" y="29527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5829300" y="1159833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1"/>
          </p:nvPr>
        </p:nvSpPr>
        <p:spPr>
          <a:xfrm>
            <a:off x="4962525" y="2955295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2"/>
          </p:nvPr>
        </p:nvSpPr>
        <p:spPr>
          <a:xfrm>
            <a:off x="5829300" y="4750758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0"/>
          </p:nvPr>
        </p:nvSpPr>
        <p:spPr>
          <a:xfrm>
            <a:off x="800100" y="1562099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1"/>
          </p:nvPr>
        </p:nvSpPr>
        <p:spPr>
          <a:xfrm>
            <a:off x="6391273" y="1562098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2" name="图片占位符 21"/>
          <p:cNvSpPr>
            <a:spLocks noGrp="1"/>
          </p:cNvSpPr>
          <p:nvPr>
            <p:ph type="pic" sz="quarter" idx="12"/>
          </p:nvPr>
        </p:nvSpPr>
        <p:spPr>
          <a:xfrm>
            <a:off x="800099" y="3990806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图片占位符 22"/>
          <p:cNvSpPr>
            <a:spLocks noGrp="1"/>
          </p:cNvSpPr>
          <p:nvPr>
            <p:ph type="pic" sz="quarter" idx="13"/>
          </p:nvPr>
        </p:nvSpPr>
        <p:spPr>
          <a:xfrm>
            <a:off x="6391272" y="3990805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93345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1"/>
          </p:nvPr>
        </p:nvSpPr>
        <p:spPr>
          <a:xfrm>
            <a:off x="303133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2"/>
          </p:nvPr>
        </p:nvSpPr>
        <p:spPr>
          <a:xfrm>
            <a:off x="512921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3"/>
          </p:nvPr>
        </p:nvSpPr>
        <p:spPr>
          <a:xfrm>
            <a:off x="7227093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2" name="图片占位符 21"/>
          <p:cNvSpPr>
            <a:spLocks noGrp="1"/>
          </p:cNvSpPr>
          <p:nvPr>
            <p:ph type="pic" sz="quarter" idx="14"/>
          </p:nvPr>
        </p:nvSpPr>
        <p:spPr>
          <a:xfrm>
            <a:off x="9324975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8353425" y="1152525"/>
            <a:ext cx="2638425" cy="2419350"/>
          </a:xfrm>
          <a:custGeom>
            <a:avLst/>
            <a:gdLst>
              <a:gd name="connsiteX0" fmla="*/ 2638425 w 2638425"/>
              <a:gd name="connsiteY0" fmla="*/ 0 h 2419350"/>
              <a:gd name="connsiteX1" fmla="*/ 2486025 w 2638425"/>
              <a:gd name="connsiteY1" fmla="*/ 2228850 h 2419350"/>
              <a:gd name="connsiteX2" fmla="*/ 0 w 2638425"/>
              <a:gd name="connsiteY2" fmla="*/ 2419350 h 2419350"/>
              <a:gd name="connsiteX3" fmla="*/ 171450 w 2638425"/>
              <a:gd name="connsiteY3" fmla="*/ 695325 h 241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8425" h="2419350">
                <a:moveTo>
                  <a:pt x="2638425" y="0"/>
                </a:moveTo>
                <a:lnTo>
                  <a:pt x="2486025" y="2228850"/>
                </a:lnTo>
                <a:lnTo>
                  <a:pt x="0" y="2419350"/>
                </a:lnTo>
                <a:lnTo>
                  <a:pt x="171450" y="69532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590551" y="1437117"/>
            <a:ext cx="5505451" cy="3392058"/>
          </a:xfrm>
          <a:custGeom>
            <a:avLst/>
            <a:gdLst>
              <a:gd name="connsiteX0" fmla="*/ 0 w 5505450"/>
              <a:gd name="connsiteY0" fmla="*/ 0 h 3392058"/>
              <a:gd name="connsiteX1" fmla="*/ 5505450 w 5505450"/>
              <a:gd name="connsiteY1" fmla="*/ 0 h 3392058"/>
              <a:gd name="connsiteX2" fmla="*/ 5505450 w 5505450"/>
              <a:gd name="connsiteY2" fmla="*/ 3392058 h 3392058"/>
              <a:gd name="connsiteX3" fmla="*/ 0 w 5505450"/>
              <a:gd name="connsiteY3" fmla="*/ 3392058 h 3392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5450" h="3392058">
                <a:moveTo>
                  <a:pt x="0" y="0"/>
                </a:moveTo>
                <a:lnTo>
                  <a:pt x="5505450" y="0"/>
                </a:lnTo>
                <a:lnTo>
                  <a:pt x="5505450" y="3392058"/>
                </a:lnTo>
                <a:lnTo>
                  <a:pt x="0" y="339205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zh-CN" altLang="en-US" dirty="0">
                <a:latin typeface="Arial" panose="020B0604020202020204" pitchFamily="34" charset="0"/>
              </a:rPr>
              <a:t>P2P网络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 dirty="0">
                <a:latin typeface="Arial" panose="020B0604020202020204" pitchFamily="34" charset="0"/>
              </a:rPr>
              <a:t>CCF@U第1244场，西北大学，2025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8048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0" y="1017588"/>
            <a:ext cx="7112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5965593-6650-4D71-86DF-9257E339D58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charset="0"/>
                <a:ea typeface="宋体" panose="02010600030101010101" pitchFamily="2" charset="-122"/>
                <a:cs typeface="+mn-cs"/>
                <a:sym typeface="Tw Cen MT" panose="020B0602020104020603" charset="0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Tw Cen MT" panose="020B06020201040206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918316"/>
          </a:xfrm>
          <a:custGeom>
            <a:avLst/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7.png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8.png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41575" y="3519170"/>
            <a:ext cx="7414895" cy="318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75000"/>
                    <a:alpha val="5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zh-CN" sz="4000" b="1" dirty="0">
                <a:solidFill>
                  <a:schemeClr val="tx1"/>
                </a:solidFill>
                <a:latin typeface="微软雅黑" panose="020B0503020204020204" charset="-122"/>
                <a:sym typeface="华文仿宋" panose="02010600040101010101" charset="-122"/>
              </a:rPr>
              <a:t>【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charset="-122"/>
                <a:sym typeface="华文仿宋" panose="02010600040101010101" charset="-122"/>
              </a:rPr>
              <a:t>9/29 - 10/13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sym typeface="华文仿宋" panose="02010600040101010101" charset="-122"/>
              </a:rPr>
              <a:t>】</a:t>
            </a:r>
            <a:r>
              <a:rPr lang="zh-CN" sz="4000" b="1" dirty="0">
                <a:solidFill>
                  <a:schemeClr val="tx1"/>
                </a:solidFill>
                <a:latin typeface="微软雅黑" panose="020B0503020204020204" charset="-122"/>
                <a:sym typeface="华文仿宋" panose="02010600040101010101" charset="-122"/>
              </a:rPr>
              <a:t>进展汇报</a:t>
            </a:r>
            <a:endParaRPr lang="zh-CN" sz="4000" b="1" dirty="0">
              <a:solidFill>
                <a:schemeClr val="tx1"/>
              </a:solidFill>
              <a:latin typeface="微软雅黑" panose="020B0503020204020204" charset="-122"/>
              <a:sym typeface="华文仿宋" panose="02010600040101010101" charset="-122"/>
            </a:endParaRPr>
          </a:p>
          <a:p>
            <a:pPr algn="ctr">
              <a:spcBef>
                <a:spcPct val="0"/>
              </a:spcBef>
            </a:pPr>
            <a:endParaRPr lang="zh-CN" altLang="en-US" sz="4000" b="1" dirty="0">
              <a:solidFill>
                <a:schemeClr val="tx1"/>
              </a:solidFill>
              <a:sym typeface="+mn-ea"/>
            </a:endParaRPr>
          </a:p>
          <a:p>
            <a:pPr algn="ctr">
              <a:spcBef>
                <a:spcPct val="0"/>
              </a:spcBef>
            </a:pPr>
            <a:r>
              <a:rPr lang="zh-CN" altLang="en-US" sz="4000" b="1" dirty="0">
                <a:solidFill>
                  <a:schemeClr val="tx1"/>
                </a:solidFill>
                <a:sym typeface="+mn-ea"/>
              </a:rPr>
              <a:t>【钟民杰】</a:t>
            </a:r>
            <a:endParaRPr lang="zh-CN" altLang="en-US" sz="4000" b="1" dirty="0">
              <a:solidFill>
                <a:schemeClr val="tx1"/>
              </a:solidFill>
            </a:endParaRPr>
          </a:p>
          <a:p>
            <a:pPr algn="ctr">
              <a:spcBef>
                <a:spcPct val="0"/>
              </a:spcBef>
            </a:pPr>
            <a:endParaRPr lang="zh-CN" sz="4000" b="1" dirty="0">
              <a:solidFill>
                <a:schemeClr val="tx1"/>
              </a:solidFill>
              <a:latin typeface="微软雅黑" panose="020B0503020204020204" charset="-122"/>
              <a:sym typeface="华文仿宋" panose="02010600040101010101" charset="-122"/>
            </a:endParaRPr>
          </a:p>
          <a:p>
            <a:pPr algn="ctr">
              <a:spcBef>
                <a:spcPct val="0"/>
              </a:spcBef>
            </a:pPr>
            <a:endParaRPr lang="zh-CN" sz="4000" b="1" dirty="0">
              <a:solidFill>
                <a:schemeClr val="tx1"/>
              </a:solidFill>
              <a:latin typeface="微软雅黑" panose="020B0503020204020204" charset="-122"/>
              <a:sym typeface="华文仿宋" panose="02010600040101010101" charset="-122"/>
            </a:endParaRPr>
          </a:p>
        </p:txBody>
      </p:sp>
      <p:pic>
        <p:nvPicPr>
          <p:cNvPr id="2" name="图片 1" descr="d841307fae2bdba3e4eb4ccc9ba62a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432165" cy="2451100"/>
          </a:xfrm>
          <a:prstGeom prst="rect">
            <a:avLst/>
          </a:prstGeom>
        </p:spPr>
      </p:pic>
      <p:pic>
        <p:nvPicPr>
          <p:cNvPr id="3" name="图片 2" descr="15859698dea59d9263aee9ba8c17c59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985" y="368935"/>
            <a:ext cx="20574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85361" y="115130"/>
            <a:ext cx="26212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48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主要任务</a:t>
            </a:r>
            <a:endParaRPr kumimoji="1" lang="zh-CN" altLang="en-US" sz="4800" b="1" dirty="0">
              <a:solidFill>
                <a:schemeClr val="tx1"/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  <a:latin typeface="+mj-ea"/>
              <a:ea typeface="+mj-ea"/>
              <a:cs typeface="+mj-cs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9147810" y="6445885"/>
            <a:ext cx="2743200" cy="365125"/>
          </a:xfrm>
        </p:spPr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95940" y="1358977"/>
            <a:ext cx="11078284" cy="521577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  <a:buClrTx/>
              <a:buSzTx/>
            </a:pPr>
            <a:r>
              <a:rPr lang="zh-CN" altLang="en-US" sz="1700" b="1" noProof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中长期目标：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系统掌握 区块链身份认证领域（SSI / DID / VC / ZKP） 的核心技术与研究现状，重点关注去中心化身份体系中的安全与隐私问题。</a:t>
            </a:r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聚焦 VC 吊销（Revocation）机制，探索结合 零知识证明（ZKP） 与隐私保护的高效方案，最终形成一个可验证、高性能、隐私友好的身份认证机制，并完成实验验证及论文撰写。</a:t>
            </a:r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lang="zh-CN" altLang="en-US" sz="1700" b="1" noProof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迄今为止的执行情况：</a:t>
            </a:r>
            <a:endParaRPr lang="zh-CN" altLang="en-US" sz="1700" b="1" noProof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系统调研 VC 吊销研究现状，梳理六大隐私风险 PR-1~PR-6</a:t>
            </a:r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上手 labs 的 CRSet 实验，跑通过滤器级联构造与开销分析</a:t>
            </a:r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按老师反馈，回到原论文本身，从机制里找问题、想改进，而不是直接对照他人方案</a:t>
            </a:r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lang="zh-CN" altLang="en-US" sz="1700" b="1" noProof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本周拟完成的任务：</a:t>
            </a:r>
            <a:endParaRPr lang="zh-CN" altLang="en-US" sz="1700" b="1" noProof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认真精读 Prevoke 一篇，逐段拆解其两阶段机制</a:t>
            </a:r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从机制里定位可改进的杠杆，提出具体的改进方法</a:t>
            </a:r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对每个改进「带来的新问题」做诚实讨论，并列出我可以动手做的东西</a:t>
            </a:r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13" y="193599"/>
            <a:ext cx="7488188" cy="6635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1.Prevoke Architecture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72313" y="994523"/>
            <a:ext cx="1103651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5045" y="168479"/>
            <a:ext cx="2653783" cy="77144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57938" y="1571971"/>
            <a:ext cx="60508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设置</a:t>
            </a:r>
            <a:r>
              <a:rPr lang="zh-CN" altLang="en-US" dirty="0"/>
              <a:t>：发行方配置 </a:t>
            </a:r>
            <a:r>
              <a:rPr lang="en-US" altLang="zh-CN" dirty="0"/>
              <a:t>BF </a:t>
            </a:r>
            <a:r>
              <a:rPr lang="zh-CN" altLang="en-US" dirty="0"/>
              <a:t>参数（</a:t>
            </a:r>
            <a:r>
              <a:rPr lang="en-US" altLang="zh-CN" dirty="0"/>
              <a:t>m</a:t>
            </a:r>
            <a:r>
              <a:rPr lang="zh-CN" altLang="en-US" dirty="0"/>
              <a:t>、</a:t>
            </a:r>
            <a:r>
              <a:rPr lang="en-US" altLang="zh-CN" dirty="0"/>
              <a:t>k</a:t>
            </a:r>
            <a:r>
              <a:rPr lang="zh-CN" altLang="en-US" dirty="0"/>
              <a:t>、</a:t>
            </a:r>
            <a:r>
              <a:rPr lang="en-US" altLang="zh-CN" dirty="0"/>
              <a:t>p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），生成 </a:t>
            </a:r>
            <a:r>
              <a:rPr lang="en-US" altLang="zh-CN" dirty="0"/>
              <a:t>BBS </a:t>
            </a:r>
            <a:r>
              <a:rPr lang="zh-CN" altLang="en-US" dirty="0"/>
              <a:t>密钥对，部署智能合约并初始化空的 </a:t>
            </a:r>
            <a:r>
              <a:rPr lang="en-US" altLang="zh-CN" dirty="0"/>
              <a:t>BF </a:t>
            </a:r>
            <a:r>
              <a:rPr lang="zh-CN" altLang="en-US" dirty="0"/>
              <a:t>与 </a:t>
            </a:r>
            <a:r>
              <a:rPr lang="en-US" altLang="zh-CN" dirty="0" err="1"/>
              <a:t>MTAcc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签发</a:t>
            </a:r>
            <a:r>
              <a:rPr lang="zh-CN" altLang="en-US" dirty="0"/>
              <a:t>：发行方生成 </a:t>
            </a:r>
            <a:r>
              <a:rPr lang="en-US" altLang="zh-CN" dirty="0" err="1"/>
              <a:t>vcID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bfIndexes</a:t>
            </a:r>
            <a:r>
              <a:rPr lang="zh-CN" altLang="en-US" dirty="0"/>
              <a:t>，</a:t>
            </a:r>
            <a:r>
              <a:rPr lang="en-US" altLang="zh-CN" dirty="0"/>
              <a:t>BBS </a:t>
            </a:r>
            <a:r>
              <a:rPr lang="zh-CN" altLang="en-US" dirty="0"/>
              <a:t>签名后将 </a:t>
            </a:r>
            <a:r>
              <a:rPr lang="en-US" altLang="zh-CN" dirty="0"/>
              <a:t>H(</a:t>
            </a:r>
            <a:r>
              <a:rPr lang="en-US" altLang="zh-CN" dirty="0" err="1"/>
              <a:t>vcID</a:t>
            </a:r>
            <a:r>
              <a:rPr lang="en-US" altLang="zh-CN" dirty="0"/>
              <a:t>) </a:t>
            </a:r>
            <a:r>
              <a:rPr lang="zh-CN" altLang="en-US" dirty="0"/>
              <a:t>插入 </a:t>
            </a:r>
            <a:r>
              <a:rPr lang="en-US" altLang="zh-CN" dirty="0" err="1"/>
              <a:t>MTAcc</a:t>
            </a:r>
            <a:r>
              <a:rPr lang="zh-CN" altLang="en-US" dirty="0"/>
              <a:t>，计算见证值 </a:t>
            </a:r>
            <a:r>
              <a:rPr lang="en-US" altLang="zh-CN" dirty="0"/>
              <a:t>witness</a:t>
            </a:r>
            <a:r>
              <a:rPr lang="zh-CN" altLang="en-US" dirty="0"/>
              <a:t>，将 </a:t>
            </a:r>
            <a:r>
              <a:rPr lang="en-US" altLang="zh-CN" dirty="0"/>
              <a:t>VC </a:t>
            </a:r>
            <a:r>
              <a:rPr lang="zh-CN" altLang="en-US" dirty="0"/>
              <a:t>与 </a:t>
            </a:r>
            <a:r>
              <a:rPr lang="en-US" altLang="zh-CN" dirty="0"/>
              <a:t>witness </a:t>
            </a:r>
            <a:r>
              <a:rPr lang="zh-CN" altLang="en-US" dirty="0"/>
              <a:t>发送给持有者，并将 </a:t>
            </a:r>
            <a:r>
              <a:rPr lang="en-US" altLang="zh-CN" dirty="0" err="1"/>
              <a:t>MTAcc</a:t>
            </a:r>
            <a:r>
              <a:rPr lang="en-US" altLang="zh-CN" dirty="0"/>
              <a:t> </a:t>
            </a:r>
            <a:r>
              <a:rPr lang="zh-CN" altLang="en-US" dirty="0"/>
              <a:t>前 </a:t>
            </a:r>
            <a:r>
              <a:rPr lang="en-US" altLang="zh-CN" dirty="0"/>
              <a:t>z </a:t>
            </a:r>
            <a:r>
              <a:rPr lang="zh-CN" altLang="en-US" dirty="0"/>
              <a:t>层发布至智能合约。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吊销</a:t>
            </a:r>
            <a:r>
              <a:rPr lang="zh-CN" altLang="en-US" dirty="0"/>
              <a:t>：发行方将 </a:t>
            </a:r>
            <a:r>
              <a:rPr lang="en-US" altLang="zh-CN" dirty="0"/>
              <a:t>BF </a:t>
            </a:r>
            <a:r>
              <a:rPr lang="zh-CN" altLang="en-US" dirty="0"/>
              <a:t>中对应的 </a:t>
            </a:r>
            <a:r>
              <a:rPr lang="en-US" altLang="zh-CN" dirty="0"/>
              <a:t>k </a:t>
            </a:r>
            <a:r>
              <a:rPr lang="zh-CN" altLang="en-US" dirty="0"/>
              <a:t>个位置设为 </a:t>
            </a:r>
            <a:r>
              <a:rPr lang="en-US" altLang="zh-CN" dirty="0"/>
              <a:t>1</a:t>
            </a:r>
            <a:r>
              <a:rPr lang="zh-CN" altLang="en-US" dirty="0"/>
              <a:t>，同时将 </a:t>
            </a:r>
            <a:r>
              <a:rPr lang="en-US" altLang="zh-CN" dirty="0" err="1"/>
              <a:t>MTAcc</a:t>
            </a:r>
            <a:r>
              <a:rPr lang="en-US" altLang="zh-CN" dirty="0"/>
              <a:t> </a:t>
            </a:r>
            <a:r>
              <a:rPr lang="zh-CN" altLang="en-US" dirty="0"/>
              <a:t>中该叶节点替换为 </a:t>
            </a:r>
            <a:r>
              <a:rPr lang="en-US" altLang="zh-CN" dirty="0"/>
              <a:t>H(</a:t>
            </a:r>
            <a:r>
              <a:rPr lang="zh-CN" altLang="en-US" dirty="0"/>
              <a:t>随机串</a:t>
            </a:r>
            <a:r>
              <a:rPr lang="en-US" altLang="zh-CN" dirty="0"/>
              <a:t>)</a:t>
            </a:r>
            <a:r>
              <a:rPr lang="zh-CN" altLang="en-US" dirty="0"/>
              <a:t>，更新后的 </a:t>
            </a:r>
            <a:r>
              <a:rPr lang="en-US" altLang="zh-CN" dirty="0"/>
              <a:t>BF </a:t>
            </a:r>
            <a:r>
              <a:rPr lang="zh-CN" altLang="en-US" dirty="0"/>
              <a:t>与 </a:t>
            </a:r>
            <a:r>
              <a:rPr lang="en-US" altLang="zh-CN" dirty="0" err="1"/>
              <a:t>MTAcc</a:t>
            </a:r>
            <a:r>
              <a:rPr lang="en-US" altLang="zh-CN" dirty="0"/>
              <a:t> </a:t>
            </a:r>
            <a:r>
              <a:rPr lang="zh-CN" altLang="en-US" dirty="0"/>
              <a:t>写回智能合约。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验证（两阶段）</a:t>
            </a:r>
            <a:r>
              <a:rPr lang="zh-CN" altLang="en-US" dirty="0"/>
              <a:t>：持有者生成 </a:t>
            </a:r>
            <a:r>
              <a:rPr lang="en-US" altLang="zh-CN" dirty="0"/>
              <a:t>BBS </a:t>
            </a:r>
            <a:r>
              <a:rPr lang="zh-CN" altLang="en-US" dirty="0"/>
              <a:t>零知识证明（</a:t>
            </a:r>
            <a:r>
              <a:rPr lang="en-US" altLang="zh-CN" dirty="0"/>
              <a:t>VP</a:t>
            </a:r>
            <a:r>
              <a:rPr lang="zh-CN" altLang="en-US" dirty="0"/>
              <a:t>）并发送给验证方。验证方执行阶段 </a:t>
            </a:r>
            <a:r>
              <a:rPr lang="en-US" altLang="zh-CN" dirty="0"/>
              <a:t>1 </a:t>
            </a:r>
            <a:r>
              <a:rPr lang="zh-CN" altLang="en-US" dirty="0"/>
              <a:t>的 </a:t>
            </a:r>
            <a:r>
              <a:rPr lang="en-US" altLang="zh-CN" dirty="0"/>
              <a:t>BF </a:t>
            </a:r>
            <a:r>
              <a:rPr lang="zh-CN" altLang="en-US" dirty="0"/>
              <a:t>查询：</a:t>
            </a:r>
            <a:r>
              <a:rPr lang="en-US" altLang="zh-CN" dirty="0"/>
              <a:t>k </a:t>
            </a:r>
            <a:r>
              <a:rPr lang="zh-CN" altLang="en-US" dirty="0"/>
              <a:t>个位中有任意一位为 </a:t>
            </a:r>
            <a:r>
              <a:rPr lang="en-US" altLang="zh-CN" dirty="0"/>
              <a:t>0</a:t>
            </a:r>
            <a:r>
              <a:rPr lang="zh-CN" altLang="en-US" dirty="0"/>
              <a:t>，则凭证确定有效，流程终止；全为 </a:t>
            </a:r>
            <a:r>
              <a:rPr lang="en-US" altLang="zh-CN" dirty="0"/>
              <a:t>1 </a:t>
            </a:r>
            <a:r>
              <a:rPr lang="zh-CN" altLang="en-US" dirty="0"/>
              <a:t>则进入阶段 </a:t>
            </a:r>
            <a:r>
              <a:rPr lang="en-US" altLang="zh-CN" dirty="0"/>
              <a:t>2</a:t>
            </a:r>
            <a:r>
              <a:rPr lang="zh-CN" altLang="en-US" dirty="0"/>
              <a:t>，持有者提供最新 </a:t>
            </a:r>
            <a:r>
              <a:rPr lang="en-US" altLang="zh-CN" dirty="0"/>
              <a:t>witness</a:t>
            </a:r>
            <a:r>
              <a:rPr lang="zh-CN" altLang="en-US" dirty="0"/>
              <a:t>，验证方比对 </a:t>
            </a:r>
            <a:r>
              <a:rPr lang="en-US" altLang="zh-CN" dirty="0" err="1"/>
              <a:t>MTAcc</a:t>
            </a:r>
            <a:r>
              <a:rPr lang="en-US" altLang="zh-CN" dirty="0"/>
              <a:t> </a:t>
            </a:r>
            <a:r>
              <a:rPr lang="zh-CN" altLang="en-US" dirty="0"/>
              <a:t>根哈希与链上值，判定为假阳性（有效）或真实吊销（无效）。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13" y="1131873"/>
            <a:ext cx="4368771" cy="5726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962" y="908972"/>
            <a:ext cx="9000100" cy="550582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0482" y="273576"/>
            <a:ext cx="10951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隐私风险分类整理</a:t>
            </a:r>
            <a:endParaRPr lang="zh-CN" altLang="en-US" sz="32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25481" y="452373"/>
            <a:ext cx="10861311" cy="22500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342900" indent="-342900" algn="l">
              <a:lnSpc>
                <a:spcPct val="140000"/>
              </a:lnSpc>
              <a:buFont typeface="Wingdings" panose="05000000000000000000" charset="0"/>
              <a:buChar char="p"/>
            </a:pPr>
            <a:endParaRPr lang="zh-CN" altLang="en-US" sz="2400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335936" y="998973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95960" y="1539240"/>
            <a:ext cx="11235055" cy="267652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  <a:defRPr/>
            </a:pPr>
            <a:endParaRPr lang="en-US" altLang="zh-CN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  <a:defRPr/>
            </a:pPr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  <a:defRPr/>
            </a:pPr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  <a:defRPr/>
            </a:pPr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9147810" y="6445885"/>
            <a:ext cx="2743200" cy="365125"/>
          </a:xfrm>
        </p:spPr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20482" y="273576"/>
            <a:ext cx="10951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 Prevoke：两阶段机制里的两个改进杠杆</a:t>
            </a:r>
            <a:endParaRPr lang="zh-CN" altLang="en-US" sz="32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2920" y="1325879"/>
            <a:ext cx="6673092" cy="512000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10000"/>
          </a:bodyPr>
          <a:lstStyle/>
          <a:p>
            <a:pPr>
              <a:lnSpc>
                <a:spcPct val="132000"/>
              </a:lnSpc>
              <a:spcAft>
                <a:spcPts val="1100"/>
              </a:spcAft>
              <a:buNone/>
            </a:pPr>
            <a:r>
              <a:rPr lang="zh-CN" altLang="en-US" sz="17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认真读 Prevoke 一篇：Bloom（存已撤销、负责判否）+ MTAcc（存有效、只上链前 z 层、负责判定）的两阶段 + BBS 选择性披露。把它拆到功能段——每一段「为达成某目标而付出的代价」，就是可改进的杠杆（右图）。</a:t>
            </a:r>
            <a:endParaRPr lang="zh-CN" altLang="en-US" sz="17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32000"/>
              </a:lnSpc>
              <a:spcAft>
                <a:spcPts val="11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A. 标识符段：发行时 bfIndexes = H1(vcID),…,Hk(vcID) 由 vcID 算出、随 BBS 签进 VC；出示时 vp = (π, nonce, bfIndexes, H(vcID))，</a:t>
            </a:r>
            <a:r>
              <a:rPr lang="zh-CN" altLang="en-US" sz="1500" b="1" noProof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bfIndexes 必须明文</a:t>
            </a: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给验证方，才能拿去查 Bloom</a:t>
            </a:r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32000"/>
              </a:lnSpc>
              <a:spcAft>
                <a:spcPts val="11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→ 杠杆①：bfIndexes 固定、每次明文 → 共谋验证方可关联任意两次出示、</a:t>
            </a:r>
            <a:r>
              <a:rPr lang="zh-CN" altLang="en-US" sz="1500" b="0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单个验证方可无限期监控某张 VC 的状态</a:t>
            </a: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（PR-4；</a:t>
            </a:r>
            <a:r>
              <a:rPr lang="zh-CN" altLang="en-US" sz="1500" b="1" noProof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「无限期监控」是论文自承的遗留问题</a:t>
            </a:r>
            <a:r>
              <a:rPr lang="zh-CN" altLang="en-US" sz="15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500" b="1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32000"/>
              </a:lnSpc>
              <a:spcAft>
                <a:spcPts val="11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B. 两阶段查询段：Bloom 有假阳性，所以要 MTAcc 做确定性判定（Phase 2）；而 co-path 上有别的 VC 被撤时，持有者要从智能合约或发行者</a:t>
            </a:r>
            <a:r>
              <a:rPr lang="zh-CN" altLang="en-US" sz="15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获取最新见证</a:t>
            </a:r>
            <a:endParaRPr lang="zh-CN" altLang="en-US" sz="1500" b="1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32000"/>
              </a:lnSpc>
              <a:spcAft>
                <a:spcPts val="11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→ 杠杆②：Phase 2 是为「消化 Bloom 假阳性」付的代价——一并引入了 MTAcc、难调的 z 参数、见证更新、以及 </a:t>
            </a:r>
            <a:r>
              <a:rPr lang="zh-CN" altLang="en-US" sz="1500" b="1" noProof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phone-home 回潮</a:t>
            </a: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（破坏 PR-1 非交互）</a:t>
            </a:r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Picture 13" descr="W18v2-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957" y="1178975"/>
            <a:ext cx="4412643" cy="55857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14906" y="638969"/>
            <a:ext cx="10861311" cy="22500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342900" indent="-342900" algn="l">
              <a:lnSpc>
                <a:spcPct val="140000"/>
              </a:lnSpc>
              <a:buFont typeface="Wingdings" panose="05000000000000000000" charset="0"/>
              <a:buChar char="p"/>
            </a:pPr>
            <a:endParaRPr lang="zh-CN" altLang="en-US" sz="2400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353377" y="818971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95960" y="1539240"/>
            <a:ext cx="11235055" cy="267652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  <a:defRPr/>
            </a:pPr>
            <a:endParaRPr lang="en-US" altLang="zh-CN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  <a:defRPr/>
            </a:pPr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  <a:defRPr/>
            </a:pPr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  <a:defRPr/>
            </a:pPr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9147810" y="6445885"/>
            <a:ext cx="2743200" cy="365125"/>
          </a:xfrm>
        </p:spPr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57793" y="145154"/>
            <a:ext cx="11318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改进思路一：用「过滤器级联」拔掉 Phase 2</a:t>
            </a:r>
            <a:endParaRPr lang="zh-CN" altLang="en-US" sz="28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5614" y="985971"/>
            <a:ext cx="11018292" cy="260903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32000"/>
              </a:lnSpc>
              <a:spcAft>
                <a:spcPts val="1100"/>
              </a:spcAft>
            </a:pPr>
            <a:r>
              <a:rPr lang="zh-CN" altLang="en-US" sz="12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先动杠杆②。Phase 2 的病根是「Bloom 会假阳性、只能靠 MTAcc 兜底」。改进：把 Bloom + MTAcc 换成过滤器级联——它用偶层编真阳性、奇层编假阳性、层层消除，能确定性消掉假阳性（右图）。</a:t>
            </a:r>
            <a:endParaRPr lang="zh-CN" altLang="en-US" sz="12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32000"/>
              </a:lnSpc>
              <a:spcAft>
                <a:spcPts val="1100"/>
              </a:spcAft>
            </a:pPr>
            <a:r>
              <a:rPr lang="zh-CN" altLang="en-US" sz="12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A. 方法与收益：一次</a:t>
            </a:r>
            <a:r>
              <a:rPr lang="zh-CN" alt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查完级联</a:t>
            </a:r>
            <a:r>
              <a:rPr lang="zh-CN" altLang="en-US" sz="12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即定论、永不回退发行者 → PR-1 真非交互（无 Phase 2 phone-home）、</a:t>
            </a:r>
            <a:r>
              <a:rPr lang="zh-CN" altLang="en-US" sz="12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见证更新问题消失</a:t>
            </a:r>
            <a:r>
              <a:rPr lang="zh-CN" altLang="en-US" sz="12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、连难调的 z 旋钮也一并取消</a:t>
            </a:r>
            <a:endParaRPr lang="zh-CN" altLang="en-US" sz="12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32000"/>
              </a:lnSpc>
              <a:spcAft>
                <a:spcPts val="1100"/>
              </a:spcAft>
            </a:pPr>
            <a:r>
              <a:rPr lang="zh-CN" altLang="en-US" sz="12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B. 新问题（改进带来的）：① 级联须整体重建、禁止增量更新（否则相邻版本差分可被量化）→ 发行方每次发布成本 O(容量)；② 每次查询要遍历约 40 层，而 Prevoke 原本大多数有效 VC 在 Phase 1 一步就完；③ 此改动没碰标识符段，revocation 标识符照样固定明文（留给改进二）</a:t>
            </a:r>
            <a:endParaRPr lang="zh-CN" altLang="en-US" sz="12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32000"/>
              </a:lnSpc>
              <a:spcAft>
                <a:spcPts val="1100"/>
              </a:spcAft>
            </a:pPr>
            <a:r>
              <a:rPr lang="zh-CN" altLang="en-US" sz="12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我可以做的：labs 已有 CRSet 级联代码，可搭「Prevoke 两阶段 vs 级联」最小对照，实测 [发行/发布成本、查询延迟、需 phone-home 的 VC 比例] 三维——把「消 Phase 2」的收益与新成本量化成一张对照图</a:t>
            </a:r>
            <a:endParaRPr lang="zh-CN" altLang="en-US" sz="12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W18v2-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742" y="3602918"/>
            <a:ext cx="9368036" cy="3246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405765" y="968981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95960" y="1539240"/>
            <a:ext cx="11235055" cy="267652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  <a:defRPr/>
            </a:pPr>
            <a:endParaRPr lang="en-US" altLang="zh-CN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  <a:defRPr/>
            </a:pPr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  <a:defRPr/>
            </a:pPr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  <a:defRPr/>
            </a:pPr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9147810" y="6445885"/>
            <a:ext cx="2743200" cy="365125"/>
          </a:xfrm>
        </p:spPr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73421" y="251422"/>
            <a:ext cx="11880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改进思路二：让标识符「可变」——越不可关联，代价越大</a:t>
            </a:r>
            <a:endParaRPr lang="zh-CN" altLang="en-US" sz="32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45995" y="1530717"/>
            <a:ext cx="6080760" cy="475488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marL="285750" indent="-285750">
              <a:lnSpc>
                <a:spcPct val="132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zh-CN" altLang="en-US" sz="17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再动杠杆①：固定的 bfIndexes。让每次查询用的标识符不再固定，可关联性就减弱——但不可关联越强、代价越大，这是一条谱系而非单点（右图）。</a:t>
            </a:r>
            <a:endParaRPr lang="zh-CN" altLang="en-US" sz="17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32000"/>
              </a:lnSpc>
              <a:spcAft>
                <a:spcPts val="11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A. 轻改（epoch 令牌，借 UPPR 思路）：</a:t>
            </a:r>
            <a:r>
              <a:rPr lang="zh-CN" altLang="en-US" sz="1500" b="1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bfIndexes 换成 rt = VRF(sk, epoch) </a:t>
            </a: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跨 </a:t>
            </a:r>
            <a:r>
              <a:rPr lang="zh-CN" altLang="en-US" sz="15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epoch 不可关联、无限期监控被打断，且验证方仍能明文查表</a:t>
            </a: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。新问题：发行方每 epoch 重建过滤器、VRF 私钥由发行方/持有者共享（发行方仍能反关联）、epoch 内仍可关联</a:t>
            </a:r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32000"/>
              </a:lnSpc>
              <a:spcAft>
                <a:spcPts val="11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B. 重改（每次新鲜，可重随机化成员见证 PS/累加器）：一份见证派生无上限次不可关联出示 → 单次出示不可关联。新问题：验证方不能再明文查表、要改验一个轻量 PoK；且每 epoch 要 fetch 一次见证，弱化「零 fetch」的非交互</a:t>
            </a:r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32000"/>
              </a:lnSpc>
              <a:spcAft>
                <a:spcPts val="1100"/>
              </a:spcAft>
            </a:pP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具体做法：可以先做「</a:t>
            </a:r>
            <a:r>
              <a:rPr lang="zh-CN" altLang="en-US" sz="1500" b="1" noProof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epoch 令牌版 Prevoke</a:t>
            </a:r>
            <a:r>
              <a:rPr lang="zh-CN" altLang="en-US" sz="15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」这个最小改动的原型，测它对 [关联粒度、发行成本、phone-home 比例] 的影响，把「改进引入的新成本」讲清楚，再据此判断是否值得上重改</a:t>
            </a:r>
            <a:endParaRPr lang="zh-CN" altLang="en-US" sz="15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W18v2-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1178975"/>
            <a:ext cx="4355851" cy="55138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68601" y="115130"/>
            <a:ext cx="665480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sz="48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本周学习体会【限</a:t>
            </a:r>
            <a:r>
              <a:rPr lang="en-US" altLang="zh-CN" sz="48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1</a:t>
            </a:r>
            <a:r>
              <a:rPr lang="zh-CN" altLang="en-US" sz="48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页】</a:t>
            </a:r>
            <a:endParaRPr lang="zh-CN" altLang="en-US" sz="4800" b="1" dirty="0">
              <a:solidFill>
                <a:schemeClr val="tx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9147810" y="6445885"/>
            <a:ext cx="2743200" cy="365125"/>
          </a:xfrm>
        </p:spPr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65943" y="1268976"/>
            <a:ext cx="10440116" cy="522005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32000"/>
              </a:lnSpc>
              <a:spcAft>
                <a:spcPts val="1200"/>
              </a:spcAft>
            </a:pPr>
            <a:r>
              <a:rPr lang="zh-CN" altLang="en-US" sz="20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「改进一个方案」拆到功能段、看每一段为达成某目标付出了什么代价——代价就是改进杠杆。Prevoke 的 Phase 2 就是为「Bloom 假阳性也要能确定判定」付的代价（MTAcc + z + 见证更新 + phone-home）；换一种数据结构（级联）去消化它，就是一个具体、可实现的改进。</a:t>
            </a:r>
            <a:endParaRPr lang="zh-CN" altLang="en-US" sz="20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  <a:spcAft>
                <a:spcPts val="1200"/>
              </a:spcAft>
            </a:pPr>
            <a:r>
              <a:rPr lang="zh-CN" altLang="en-US" sz="20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更值得学的是「成对地讲」：每个改进都会引入新问题（消 Phase 2 → 级联要整体重建、每查要遍历更多层；标识符可变 → 发行成本升高或验证方要验 PoK）。把「改进 + 它带来的新 trade-off + 用实验量化」讲成一条链，比只喊「我把 X 解决了」更接近真实研究，也正好是一篇论文的诚实骨架。</a:t>
            </a:r>
            <a:endParaRPr lang="zh-CN" altLang="en-US" sz="20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75761" y="115130"/>
            <a:ext cx="3840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sz="48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下周科研计划</a:t>
            </a:r>
            <a:endParaRPr lang="zh-CN" altLang="en-US" sz="4800" b="1" dirty="0">
              <a:solidFill>
                <a:schemeClr val="tx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9147810" y="6445885"/>
            <a:ext cx="2743200" cy="365125"/>
          </a:xfrm>
        </p:spPr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15168" y="1155109"/>
            <a:ext cx="10800397" cy="531939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32000"/>
              </a:lnSpc>
              <a:spcAft>
                <a:spcPts val="1100"/>
              </a:spcAft>
            </a:pPr>
            <a:r>
              <a:rPr lang="zh-CN" altLang="en-US" sz="20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在 labs 搭「Prevoke 两阶段 vs 过滤器级联」最小对照实验，实测发行/发布成本、查询延迟、需 phone-home 的 VC 比例，量化「消 Phase 2」的收益与新成本</a:t>
            </a:r>
            <a:endParaRPr lang="en-US" altLang="zh-CN" sz="20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  <a:spcAft>
                <a:spcPts val="1100"/>
              </a:spcAft>
            </a:pPr>
            <a:endParaRPr lang="zh-CN" altLang="en-US" sz="20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lang="zh-CN" altLang="en-US" sz="20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做「epoch 令牌版 Prevoke」最小改动原型，测标识符可变对关联粒度与发行成本的影响</a:t>
            </a:r>
            <a:endParaRPr lang="en-US" altLang="zh-CN" sz="20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  <a:spcAft>
                <a:spcPts val="1100"/>
              </a:spcAft>
            </a:pPr>
            <a:endParaRPr lang="zh-CN" altLang="en-US" sz="20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lang="zh-CN" altLang="en-US" sz="2000" b="0" noProof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把「两个改进杠杆 × 各自新问题 × 实验量化」整理成一页方案草图，作为下一步选题的依据</a:t>
            </a:r>
            <a:endParaRPr lang="zh-CN" altLang="en-US" sz="2000" b="0" noProof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e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175" y="2941110"/>
            <a:ext cx="1009651" cy="230504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标题 6"/>
          <p:cNvSpPr>
            <a:spLocks noGrp="1"/>
          </p:cNvSpPr>
          <p:nvPr/>
        </p:nvSpPr>
        <p:spPr>
          <a:xfrm>
            <a:off x="1595755" y="253154"/>
            <a:ext cx="10363200" cy="196003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base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</a:pPr>
            <a:r>
              <a:rPr lang="zh-CN" altLang="en-US" sz="5335" b="1" noProof="1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</a:rPr>
              <a:t>谢谢，敬请批评指正！</a:t>
            </a:r>
            <a:endParaRPr lang="zh-CN" altLang="en-US" sz="5335" b="1" noProof="1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MGYzOGJjZTRlMmYzYjYwOWRiMGFmYzhlYTUxZmM1NzUifQ=="/>
  <p:tag name="RESOURCE_RECORD_KEY" val="{&quot;70&quot;:[3314408,3312407]}"/>
</p:tagLst>
</file>

<file path=ppt/theme/theme1.xml><?xml version="1.0" encoding="utf-8"?>
<a:theme xmlns:a="http://schemas.openxmlformats.org/drawingml/2006/main" name="主题1">
  <a:themeElements>
    <a:clrScheme name="自定义 1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6362"/>
      </a:accent1>
      <a:accent2>
        <a:srgbClr val="B64645"/>
      </a:accent2>
      <a:accent3>
        <a:srgbClr val="414A59"/>
      </a:accent3>
      <a:accent4>
        <a:srgbClr val="7FB541"/>
      </a:accent4>
      <a:accent5>
        <a:srgbClr val="4472C4"/>
      </a:accent5>
      <a:accent6>
        <a:srgbClr val="244956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5875">
          <a:solidFill>
            <a:srgbClr val="FF0000"/>
          </a:solidFill>
          <a:prstDash val="sysDash"/>
        </a:ln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square" rtlCol="0">
        <a:spAutoFit/>
      </a:bodyPr>
      <a:lstStyle>
        <a:defPPr algn="ctr">
          <a:defRPr sz="17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2882</Words>
  <Application>WPS 演示</Application>
  <PresentationFormat>宽屏</PresentationFormat>
  <Paragraphs>102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Tw Cen MT</vt:lpstr>
      <vt:lpstr>微软雅黑</vt:lpstr>
      <vt:lpstr>华文仿宋</vt:lpstr>
      <vt:lpstr>Times New Roman</vt:lpstr>
      <vt:lpstr>Calibri</vt:lpstr>
      <vt:lpstr>Wingdings</vt:lpstr>
      <vt:lpstr>Arial Unicode MS</vt:lpstr>
      <vt:lpstr>Calibri Light</vt:lpstr>
      <vt:lpstr>Times NR MT Pro Medium</vt:lpstr>
      <vt:lpstr>主题1</vt:lpstr>
      <vt:lpstr>自定义设计方案</vt:lpstr>
      <vt:lpstr>PowerPoint 演示文稿</vt:lpstr>
      <vt:lpstr>PowerPoint 演示文稿</vt:lpstr>
      <vt:lpstr>1.Prevoke Architecture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北冥有鱼</cp:lastModifiedBy>
  <cp:revision>2939</cp:revision>
  <cp:lastPrinted>2024-11-14T07:01:00Z</cp:lastPrinted>
  <dcterms:created xsi:type="dcterms:W3CDTF">2024-11-14T07:01:00Z</dcterms:created>
  <dcterms:modified xsi:type="dcterms:W3CDTF">2026-10-08T03:00:41Z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23CA4145CDCB412F9DC2DE25ABA641B5_13</vt:lpwstr>
  </property>
</Properties>
</file>