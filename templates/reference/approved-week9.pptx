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78" r:id="rId3"/>
  </p:sldMasterIdLst>
  <p:notesMasterIdLst>
    <p:notesMasterId r:id="rId5"/>
  </p:notesMasterIdLst>
  <p:handoutMasterIdLst>
    <p:handoutMasterId r:id="rId18"/>
  </p:handoutMasterIdLst>
  <p:sldIdLst>
    <p:sldId id="269" r:id="rId24"/>
    <p:sldId id="270" r:id="rId25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80" r:id="rId35"/>
    <p:sldId id="281" r:id="rId36"/>
    <p:sldId id="282" r:id="rId37"/>
  </p:sldIdLst>
  <p:sldSz cx="12192000" cy="6858000"/>
  <p:notesSz cx="6797675" cy="9928225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090" userDrawn="1">
          <p15:clr>
            <a:srgbClr val="A4A3A4"/>
          </p15:clr>
        </p15:guide>
        <p15:guide id="2" orient="horz" pos="22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ngxy" initials="w" lastIdx="4" clrIdx="0"/>
  <p:cmAuthor id="1" name="Juli May" initials="JM" lastIdx="10" clrIdx="0"/>
  <p:cmAuthor id="2" name="Georgi Meyer" initials="GM" lastIdx="10" clrIdx="1"/>
  <p:cmAuthor id="3" name="Alan Deeth" initials="AD" lastIdx="74" clrIdx="2"/>
  <p:cmAuthor id="4" name="David Jeppesen" initials="DJ" lastIdx="83" clrIdx="3"/>
  <p:cmAuthor id="5" name="John Karwoski" initials="JK" lastIdx="50" clrIdx="4"/>
  <p:cmAuthor id="6" name="zhao" initials="" lastIdx="10" clrIdx="5"/>
  <p:cmAuthor id="7" name="Joe Staples" initials="JS" lastIdx="3" clrIdx="6"/>
  <p:cmAuthor id="8" name="Simon Johnson" initials="SJ" lastIdx="6" clrIdx="7"/>
  <p:cmAuthor id="10" name="jinch" initials="j" lastIdx="1" clrIdx="9"/>
  <p:cmAuthor id="11" name="Microsoft Office User" initials="MOU" lastIdx="1" clrIdx="10"/>
  <p:cmAuthor id="12" name="tanghaibo" initials="t" lastIdx="1" clrIdx="11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72C4"/>
    <a:srgbClr val="F4BBBB"/>
    <a:srgbClr val="818181"/>
    <a:srgbClr val="A36B44"/>
    <a:srgbClr val="5882AA"/>
    <a:srgbClr val="71905D"/>
    <a:srgbClr val="7FB541"/>
    <a:srgbClr val="8FAADC"/>
    <a:srgbClr val="DC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6525" autoAdjust="0"/>
  </p:normalViewPr>
  <p:slideViewPr>
    <p:cSldViewPr showGuides="1">
      <p:cViewPr varScale="1">
        <p:scale>
          <a:sx n="111" d="100"/>
          <a:sy n="111" d="100"/>
        </p:scale>
        <p:origin x="114" y="198"/>
      </p:cViewPr>
      <p:guideLst>
        <p:guide pos="4090"/>
        <p:guide orient="horz" pos="2270"/>
      </p:guideLst>
    </p:cSldViewPr>
  </p:slideViewPr>
  <p:outlineViewPr>
    <p:cViewPr>
      <p:scale>
        <a:sx n="33" d="100"/>
        <a:sy n="33" d="100"/>
      </p:scale>
      <p:origin x="0" y="-15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45" d="100"/>
        <a:sy n="45" d="100"/>
      </p:scale>
      <p:origin x="0" y="0"/>
    </p:cViewPr>
  </p:sorterViewPr>
  <p:gridSpacing cx="90001" cy="9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commentAuthors" Target="commentAuthors.xml"/><Relationship Id="rId23" Type="http://schemas.openxmlformats.org/officeDocument/2006/relationships/tags" Target="tags/tag4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100" b="1">
                <a:solidFill>
                  <a:srgbClr val="222222"/>
                </a:solidFill>
                <a:latin typeface="Times New Roman"/>
                <a:ea typeface="宋体"/>
              </a:rPr>
              <a:t>E13：热查询完成 p95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ln w="22860">
              <a:solidFill>
                <a:srgbClr val="0072B2"/>
              </a:solidFill>
            </a:ln>
          </c:spPr>
          <c:dPt>
            <c:idx val="0"/>
            <c:spPr>
              <a:solidFill>
                <a:srgbClr val="0072B2"/>
              </a:solidFill>
              <a:ln>
                <a:noFill/>
              </a:ln>
            </c:spPr>
          </c:dPt>
          <c:dPt>
            <c:idx val="1"/>
            <c:spPr>
              <a:solidFill>
                <a:srgbClr val="B36B00"/>
              </a:solidFill>
              <a:ln>
                <a:noFill/>
              </a:ln>
            </c:spPr>
          </c:dPt>
          <c:dPt>
            <c:idx val="2"/>
            <c:spPr>
              <a:solidFill>
                <a:srgbClr val="009E73"/>
              </a:solidFill>
              <a:ln>
                <a:noFill/>
              </a:ln>
            </c:spPr>
          </c:dPt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78.14900166666672</c:v>
                </c:pt>
                <c:pt idx="1">
                  <c:v>23.698644999999942</c:v>
                </c:pt>
                <c:pt idx="2">
                  <c:v>4.111348333333325</c:v>
                </c:pt>
              </c:numLit>
            </c:plus>
            <c:minus>
              <c:numLit>
                <c:formatCode>General</c:formatCode>
                <c:ptCount val="3"/>
                <c:pt idx="0">
                  <c:v>40.01039833333334</c:v>
                </c:pt>
                <c:pt idx="1">
                  <c:v>27.19902500000012</c:v>
                </c:pt>
                <c:pt idx="2">
                  <c:v>4.757161666666661</c:v>
                </c:pt>
              </c:numLit>
            </c:minus>
            <c:spPr>
              <a:ln w="12700">
                <a:solidFill>
                  <a:srgbClr val="444444"/>
                </a:solidFill>
              </a:ln>
            </c:spPr>
          </c:errBars>
          <c:cat>
            <c:strRef>
              <c:f>Sheet1!$A$2:$A$4</c:f>
              <c:strCache>
                <c:ptCount val="3"/>
                <c:pt idx="0">
                  <c:v>Eager</c:v>
                </c:pt>
                <c:pt idx="1">
                  <c:v>Batch</c:v>
                </c:pt>
                <c:pt idx="2">
                  <c:v>HotRevoke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302.9992083333333</c:v>
                </c:pt>
                <c:pt idx="1">
                  <c:v>1757.93519</c:v>
                </c:pt>
                <c:pt idx="2">
                  <c:v>163.9078966666667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7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.0"/>
          <c:min val="0.0"/>
        </c:scaling>
        <c:delete val="0"/>
        <c:axPos val="l"/>
        <c:majorGridlines>
          <c:spPr>
            <a:ln w="6350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700" b="0">
                    <a:solidFill>
                      <a:srgbClr val="222222"/>
                    </a:solidFill>
                    <a:latin typeface="Times New Roman"/>
                    <a:ea typeface="宋体"/>
                  </a:rPr>
                  <a:t>ms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068027336"/>
        <c:crosses val="autoZero"/>
        <c:majorUnit val="500.0"/>
      </c:valAx>
    </c:plotArea>
    <c:dispBlanksAs val="gap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100" b="1">
                <a:solidFill>
                  <a:srgbClr val="222222"/>
                </a:solidFill>
                <a:latin typeface="Times New Roman"/>
                <a:ea typeface="宋体"/>
              </a:rPr>
              <a:t>E13：累计业务逻辑写入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ln w="22860">
              <a:solidFill>
                <a:srgbClr val="0072B2"/>
              </a:solidFill>
            </a:ln>
          </c:spPr>
          <c:dPt>
            <c:idx val="0"/>
            <c:spPr>
              <a:solidFill>
                <a:srgbClr val="0072B2"/>
              </a:solidFill>
              <a:ln>
                <a:noFill/>
              </a:ln>
            </c:spPr>
          </c:dPt>
          <c:dPt>
            <c:idx val="1"/>
            <c:spPr>
              <a:solidFill>
                <a:srgbClr val="B36B00"/>
              </a:solidFill>
              <a:ln>
                <a:noFill/>
              </a:ln>
            </c:spPr>
          </c:dPt>
          <c:dPt>
            <c:idx val="2"/>
            <c:spPr>
              <a:solidFill>
                <a:srgbClr val="009E73"/>
              </a:solidFill>
              <a:ln>
                <a:noFill/>
              </a:ln>
            </c:spPr>
          </c:dPt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0.015625</c:v>
                </c:pt>
                <c:pt idx="1">
                  <c:v>0.0026041666666571928</c:v>
                </c:pt>
                <c:pt idx="2">
                  <c:v>0.053385416666685614</c:v>
                </c:pt>
              </c:numLit>
            </c:plus>
            <c:minus>
              <c:numLit>
                <c:formatCode>General</c:formatCode>
                <c:ptCount val="3"/>
                <c:pt idx="0">
                  <c:v>0.015625</c:v>
                </c:pt>
                <c:pt idx="1">
                  <c:v>0.005208333333342807</c:v>
                </c:pt>
                <c:pt idx="2">
                  <c:v>0.052083333333314386</c:v>
                </c:pt>
              </c:numLit>
            </c:minus>
            <c:spPr>
              <a:ln w="12700">
                <a:solidFill>
                  <a:srgbClr val="444444"/>
                </a:solidFill>
              </a:ln>
            </c:spPr>
          </c:errBars>
          <c:cat>
            <c:strRef>
              <c:f>Sheet1!$A$2:$A$4</c:f>
              <c:strCache>
                <c:ptCount val="3"/>
                <c:pt idx="0">
                  <c:v>Eager</c:v>
                </c:pt>
                <c:pt idx="1">
                  <c:v>Batch</c:v>
                </c:pt>
                <c:pt idx="2">
                  <c:v>HotRevoke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672.216796875</c:v>
                </c:pt>
                <c:pt idx="1">
                  <c:v>142.4895833333333</c:v>
                </c:pt>
                <c:pt idx="2">
                  <c:v>264.5618489583333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7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.0"/>
          <c:min val="0.0"/>
        </c:scaling>
        <c:delete val="0"/>
        <c:axPos val="l"/>
        <c:majorGridlines>
          <c:spPr>
            <a:ln w="6350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700" b="0">
                    <a:solidFill>
                      <a:srgbClr val="222222"/>
                    </a:solidFill>
                    <a:latin typeface="Times New Roman"/>
                    <a:ea typeface="宋体"/>
                  </a:rPr>
                  <a:t>KiB / run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068027336"/>
        <c:crosses val="autoZero"/>
        <c:majorUnit val="200.0"/>
      </c:valAx>
    </c:plotArea>
    <c:dispBlanksAs val="gap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100" b="1">
                <a:solidFill>
                  <a:srgbClr val="222222"/>
                </a:solidFill>
                <a:latin typeface="Times New Roman"/>
                <a:ea typeface="宋体"/>
              </a:rPr>
              <a:t>E16：窗口正确查询速率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Eager</c:v>
                </c:pt>
              </c:strCache>
            </c:strRef>
          </c:tx>
          <c:spPr>
            <a:ln w="22860">
              <a:solidFill>
                <a:srgbClr val="0072B2"/>
              </a:solidFill>
            </a:ln>
          </c:spPr>
          <c:marker>
            <c:symbol val="circle"/>
            <c:size val="6"/>
            <c:spPr>
              <a:solidFill>
                <a:srgbClr val="0072B2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0.7666666666666666</c:v>
                </c:pt>
                <c:pt idx="2">
                  <c:v>0.16666666666666696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1.033333333333334</c:v>
                </c:pt>
                <c:pt idx="2">
                  <c:v>0.2333333333333334</c:v>
                </c:pt>
              </c:numLit>
            </c:minus>
            <c:spPr>
              <a:ln w="12700">
                <a:solidFill>
                  <a:srgbClr val="444444"/>
                </a:solidFill>
              </a:ln>
            </c:spPr>
          </c:errBars>
          <c:cat>
            <c:strRef>
              <c:f>Sheet1!$A$2:$A$4</c:f>
              <c:strCache>
                <c:ptCount val="3"/>
                <c:pt idx="0">
                  <c:v>4</c:v>
                </c:pt>
                <c:pt idx="1">
                  <c:v>12</c:v>
                </c:pt>
                <c:pt idx="2">
                  <c:v>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</c:v>
                </c:pt>
                <c:pt idx="1">
                  <c:v>6.133333333333334</c:v>
                </c:pt>
                <c:pt idx="2">
                  <c:v>6.533333333333333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Batch</c:v>
                </c:pt>
              </c:strCache>
            </c:strRef>
          </c:tx>
          <c:spPr>
            <a:ln w="22860">
              <a:solidFill>
                <a:srgbClr val="B36B00"/>
              </a:solidFill>
            </a:ln>
          </c:spPr>
          <c:marker>
            <c:symbol val="square"/>
            <c:size val="6"/>
            <c:spPr>
              <a:solidFill>
                <a:srgbClr val="B36B00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0.6333333333333329</c:v>
                </c:pt>
                <c:pt idx="2">
                  <c:v>0.5333333333333332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0.9666666666666668</c:v>
                </c:pt>
                <c:pt idx="2">
                  <c:v>0.8666666666666671</c:v>
                </c:pt>
              </c:numLit>
            </c:minus>
            <c:spPr>
              <a:ln w="12700">
                <a:solidFill>
                  <a:srgbClr val="444444"/>
                </a:solidFill>
              </a:ln>
            </c:spPr>
          </c:errBars>
          <c:cat>
            <c:strRef>
              <c:f>Sheet1!$A$2:$A$4</c:f>
              <c:strCache>
                <c:ptCount val="3"/>
                <c:pt idx="0">
                  <c:v>4</c:v>
                </c:pt>
                <c:pt idx="1">
                  <c:v>12</c:v>
                </c:pt>
                <c:pt idx="2">
                  <c:v>24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2.9</c:v>
                </c:pt>
                <c:pt idx="1">
                  <c:v>6.366666666666667</c:v>
                </c:pt>
                <c:pt idx="2">
                  <c:v>7.366666666666667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HotRevoke</c:v>
                </c:pt>
              </c:strCache>
            </c:strRef>
          </c:tx>
          <c:spPr>
            <a:ln w="22860">
              <a:solidFill>
                <a:srgbClr val="009E73"/>
              </a:solidFill>
            </a:ln>
          </c:spPr>
          <c:marker>
            <c:symbol val="triangle"/>
            <c:size val="6"/>
            <c:spPr>
              <a:solidFill>
                <a:srgbClr val="009E73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0.39999999999999947</c:v>
                </c:pt>
                <c:pt idx="2">
                  <c:v>0.5333333333333332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0.20000000000000018</c:v>
                </c:pt>
                <c:pt idx="2">
                  <c:v>0.36666666666666625</c:v>
                </c:pt>
              </c:numLit>
            </c:minus>
            <c:spPr>
              <a:ln w="12700">
                <a:solidFill>
                  <a:srgbClr val="444444"/>
                </a:solidFill>
              </a:ln>
            </c:spPr>
          </c:errBars>
          <c:cat>
            <c:strRef>
              <c:f>Sheet1!$A$2:$A$4</c:f>
              <c:strCache>
                <c:ptCount val="3"/>
                <c:pt idx="0">
                  <c:v>4</c:v>
                </c:pt>
                <c:pt idx="1">
                  <c:v>12</c:v>
                </c:pt>
                <c:pt idx="2">
                  <c:v>24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2.9</c:v>
                </c:pt>
                <c:pt idx="1">
                  <c:v>6.7</c:v>
                </c:pt>
                <c:pt idx="2">
                  <c:v>7.266666666666667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Offered queries</c:v>
                </c:pt>
              </c:strCache>
            </c:strRef>
          </c:tx>
          <c:spPr>
            <a:ln w="22860">
              <a:solidFill>
                <a:srgbClr val="777777"/>
              </a:solidFill>
              <a:prstDash val="dash"/>
            </a:ln>
          </c:spPr>
          <c:marker>
            <c:symbol val="none"/>
            <c:size val="6"/>
            <c:spPr>
              <a:solidFill>
                <a:srgbClr val="777777"/>
              </a:solidFill>
            </c:spPr>
          </c:marker>
          <c:cat>
            <c:strRef>
              <c:f>Sheet1!$A$2:$A$4</c:f>
              <c:strCache>
                <c:ptCount val="3"/>
                <c:pt idx="0">
                  <c:v>4</c:v>
                </c:pt>
                <c:pt idx="1">
                  <c:v>12</c:v>
                </c:pt>
                <c:pt idx="2">
                  <c:v>24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</c:v>
                </c:pt>
                <c:pt idx="1">
                  <c:v>9</c:v>
                </c:pt>
                <c:pt idx="2">
                  <c:v>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700" b="0">
                    <a:solidFill>
                      <a:srgbClr val="222222"/>
                    </a:solidFill>
                    <a:latin typeface="Times New Roman"/>
                    <a:ea typeface="宋体"/>
                  </a:rPr>
                  <a:t>Total input (requests/s)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majorGridlines>
          <c:spPr>
            <a:ln w="6350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700" b="0">
                    <a:solidFill>
                      <a:srgbClr val="222222"/>
                    </a:solidFill>
                    <a:latin typeface="Times New Roman"/>
                    <a:ea typeface="宋体"/>
                  </a:rPr>
                  <a:t>queries/s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2118791784"/>
        <c:crosses val="autoZero"/>
        <c:majorUnit val="5.0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100" b="1">
                <a:solidFill>
                  <a:srgbClr val="222222"/>
                </a:solidFill>
                <a:latin typeface="Times New Roman"/>
                <a:ea typeface="宋体"/>
              </a:rPr>
              <a:t>E16：24请求/s时的写入成本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ln w="22860">
              <a:solidFill>
                <a:srgbClr val="0072B2"/>
              </a:solidFill>
            </a:ln>
          </c:spPr>
          <c:dPt>
            <c:idx val="0"/>
            <c:spPr>
              <a:solidFill>
                <a:srgbClr val="0072B2"/>
              </a:solidFill>
              <a:ln>
                <a:noFill/>
              </a:ln>
            </c:spPr>
          </c:dPt>
          <c:dPt>
            <c:idx val="1"/>
            <c:spPr>
              <a:solidFill>
                <a:srgbClr val="B36B00"/>
              </a:solidFill>
              <a:ln>
                <a:noFill/>
              </a:ln>
            </c:spPr>
          </c:dPt>
          <c:dPt>
            <c:idx val="2"/>
            <c:spPr>
              <a:solidFill>
                <a:srgbClr val="009E73"/>
              </a:solidFill>
              <a:ln>
                <a:noFill/>
              </a:ln>
            </c:spPr>
          </c:dPt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0.027170138888891415</c:v>
                </c:pt>
                <c:pt idx="1">
                  <c:v>1.0574055989583329</c:v>
                </c:pt>
                <c:pt idx="2">
                  <c:v>3.6480360243055543</c:v>
                </c:pt>
              </c:numLit>
            </c:plus>
            <c:minus>
              <c:numLit>
                <c:formatCode>General</c:formatCode>
                <c:ptCount val="3"/>
                <c:pt idx="0">
                  <c:v>0.05434027777778283</c:v>
                </c:pt>
                <c:pt idx="1">
                  <c:v>2.0029947916666657</c:v>
                </c:pt>
                <c:pt idx="2">
                  <c:v>4.904031032986126</c:v>
                </c:pt>
              </c:numLit>
            </c:minus>
            <c:spPr>
              <a:ln w="12700">
                <a:solidFill>
                  <a:srgbClr val="444444"/>
                </a:solidFill>
              </a:ln>
            </c:spPr>
          </c:errBars>
          <c:cat>
            <c:strRef>
              <c:f>Sheet1!$A$2:$A$4</c:f>
              <c:strCache>
                <c:ptCount val="3"/>
                <c:pt idx="0">
                  <c:v>Eager</c:v>
                </c:pt>
                <c:pt idx="1">
                  <c:v>Batch</c:v>
                </c:pt>
                <c:pt idx="2">
                  <c:v>HotRevoke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181.4519476996528</c:v>
                </c:pt>
                <c:pt idx="1">
                  <c:v>29.97320963541667</c:v>
                </c:pt>
                <c:pt idx="2">
                  <c:v>145.8996690538195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7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0.0"/>
          <c:min val="0.0"/>
        </c:scaling>
        <c:delete val="0"/>
        <c:axPos val="l"/>
        <c:majorGridlines>
          <c:spPr>
            <a:ln w="6350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700" b="0">
                    <a:solidFill>
                      <a:srgbClr val="222222"/>
                    </a:solidFill>
                    <a:latin typeface="Times New Roman"/>
                    <a:ea typeface="宋体"/>
                  </a:rPr>
                  <a:t>KiB / accepted op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265B4-CD0D-4543-8E9E-6FB20443F5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1394" y="1241425"/>
            <a:ext cx="5954889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7B04E-F35F-411E-907F-A64B4026CB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第 1 页，建议 40 秒。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这次汇报接着上一版的操作算法和实验，重点把几个容易混淆的问题讲清楚。一个注册或撤销请求已经被系统接受，不代表它已经进入密码学历史，也不代表链上已经确认。那么，在这些进度不一致时，查询依据什么回答，回答又需要包含哪些变化？本周围绕这个问题重写论文引言，统一架构图与查询说明，并重新组织已有实验的解释。接下来先用小明注册后撤销的例子说明问题，再介绍资料怎样发布、查询怎样判断，最后看等待收益与保存成本。这里展示的E13和E16都来自已有审核数据，11.13是汇报版本标签，本周没有重新运行这些实验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../../paper/11_13_week9_paper_revision/CHANGES.md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../../paper/11_13_week9_paper_revision/main_zh.tex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第 2 页，建议 65 秒。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这一页说明本周实际推进了什么。短期先解决讲不清楚的问题：把原来分散在正文和图里的接受、发布、维护与确认串起来，让同一条操作在不同阶段的状态能对应上。中长期则重新看待已有实验，不能只挑出HotRevoke等待较少的一组结果，也要解释写入增加、高压力下没有优势以及实际批次不同。长期目标是让这些观察进入论文的完整论证，而不是为了增加一张图就再做一组实验。因此本次工作的主要产物是更清楚的问题叙事、查询定义和证据解释，后面的曲线仍沿用审核过的数据。补充实验在最后列为下一步计划，不会混成已经完成的结果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../../paper/11_13_week9_paper_revision/CHANGES.md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../../paper/11_13_week9_paper_revision/NEXT_STEPS.md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第 3 页，建议 75 秒。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先看这个贯穿后面几页的例子。历史已经处理完前40条操作，随后系统接受小明的注册，序号是41；之后又接受他的撤销，序号是42。注册41接受并发布后，覆盖到41的成功查询应该返回有效；旧历史可能遗漏这次注册。撤销42接受并发布后，要求包含42的成功查询必须反映撤销，不能因为仍有注册记录就继续放行。这里讨论的是小明在应用里的使用资格，而不是删除他的DID或公钥。HotRevoke希望把历史尚未包含的这段变化先完整保存并提供给查询，随后再整理密码学历史。公平比较要求其他方案也看到同样的变化，而且只要本地资料足够新，三种方法都允许先于链确认回答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可能提问：为什么验签还不够？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回答：有效签名说明请求来自对应密钥，但不能单独说明该身份的应用资格尚未被撤销。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../../paper/11_13_week9_paper_revision/main_zh.tex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第 4 页，建议 75 秒。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这页先承认已有工作的能力，避免把所有纯密码学方案都说成逐次上链或每次重算全部账户。CL和VB已经研究动态、批量更新及见证维护；CRLite与Clubcards说明近期变化可以结合既有状态使用，其中Clubcards明确处理覆盖信息和撤销优先；Sidetree研究DID操作的批量发布。论文还讨论AccuRevoke把部分证明生成与缓存工作委托出去，它同样提醒我们区分密码学计算由谁承担。HotRevoke这轮的重点是：在可信管理者和同一最低查询要求下，如何完整发布近期变化，以及提前服务是否值得其额外成本。后面的实验仅比较本原型内部的三种维护策略，不能据此给这些相关系统做性能排名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可能提问：是不是重新发明了热数据加历史？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回答：组合近期和历史已有先例。当前论文重点是明确可信管理者下的完整查询要求及发布、维护、确认之间的条件，并评估具体实现的等待和成本取舍。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../../paper/11_13_week9_paper_revision/main_zh.tex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../../paper/11_13_week9_paper_revision/references.bib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第 5 页，建议 90 秒。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沿着一条请求来看架构。请求先经过权限和合法转换检查，系统把合法操作写入日志并完成持久化。接着，从同一完整日志区间生成近期注册和撤销记录，与历史绑定成一份新视图，保存后才正式交给查询使用。维护过程把一段近期操作合入密码学历史，因此近期查询区间会缩短，但状态答案应保持一致。链确认是另一个进度：核对目标和链上信息并在本地安装后，才能回收相应待确认记录。这里的Q、p、h、c都是操作序号。图中区分职责不代表实现已经并行化，当前原型在链RPC期间持有管理者锁，后续请求需要等待调用返回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../../paper/11_13_week9_paper_revision/main_zh.tex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../../paper/11_13_week9_paper_revision/figures/02_architecture/architecture_zh.vsdx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第 6 页，建议 80 秒。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继续使用小明的例子。q属于一次查询，表示调用者最低要求包含到哪条操作；h属于当前视图，表示整套资料完整解释到哪里。41注册发布后，使用覆盖到41的资料可以回答有效。42撤销也发布后，即使调用者只要求至少看到41，系统使用当前完整到42的资料，也应该回答已撤销，并报告u等于42。它没有义务忽略已经知道的变化去还原旧快照。反过来，如果资料只到40，就无法满足q等于41，需要返回暂不可用。这里强调完整覆盖：不能仅把h改为42，却漏掉中间的撤销事件。历史合并只改变证据组织方式，确认回收也必须按序号保留后续事件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可能提问：q是不是查询指定的历史快照？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回答：不是。q是最低覆盖要求，成功答案按当前固定视图的u=h判定，允许包含q之后的操作。精确历史快照需要另外的版本保留机制。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../../paper/11_13_week9_paper_revision/main_zh.tex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第 7 页，建议 100 秒。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这页对应论文的Query算法。第一步先固定一份视图，检查输入、认证和覆盖，避免把不同版本的历史与热区拼在一起。完整区间在发布或恢复时建立，查询检查其绑定关系，并不是每次从头重放全部日志。之后先查V，合法撤销命中就返回已撤销；没有撤销，再查U中的注册。只有两个近期区间都未命中，才进入历史证明分支。这里成员证明失败可能是证据错误，不能立即推出身份不存在，必须有有效的注册非成员证明。视图不可用与证据非法保留不同失败结果。算法依赖可信管理者、完整合法日志和可靠底层证据，这些步骤本身不等于完整密码学安全证明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可能提问：为什么V为空仍要检查完整性？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回答：只有已确认V完整，未命中才有意义。否则漏掉一条真实撤销后再查询U或旧历史，可能把已撤销身份错误放行。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../../paper/11_13_week9_paper_revision/main_zh.tex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../../lab/src/identity/comparison.py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第 8 页，建议 90 秒。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先看E13测的是什么。它按预定步骤提交更新并发起查询，显式观察历史尚未维护时查询需要等待的区间。这里取均衡注册撤销、B等于8的一个条件，每个方法运行三次。左图热查询活动时钟p95均值，逐次约303毫秒，批量约1758毫秒，HotRevoke约164毫秒。右图是这一轮16次更新的管理器累计逻辑写量，逐次约672 KiB，批量约142 KiB，HotRevoke约265 KiB。因此HotRevoke相对批量减少了这段等待，却增加约86%的写量。它是特定轨迹的结果，冷查询没有一致改善；活动时钟的计量边界也不同于后面从计划抵达开始的E16等待。误差线仅表示三次观察范围。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可能提问：E13是不是已经证明高并发更快？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回答：没有。E13测指定提交、查询和维护轨迹中的完成时间，不测外部请求持续到达时的QPS。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../../paper/11_13_week9_paper_revision/main_zh.tex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../../presentations/11_13_week9_paper_revision/assets/talk_evidence.json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第 9 页，建议 100 秒。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E16按时间表持续送请求，不等前一项工作完成才产生下一项，因此排队和成批方式也进入结果。这里固定64个初始身份，混合负载每四条请求一写三查。横轴总输入4、12、24请求每秒，对应查询输入3、9、18。最高档HotRevoke窗口QPS是7.27，批量是7.37；每次接受操作的逻辑写量约146和30 KiB，前者约为后者的4.87倍。两种批策略虽然都用8条或250毫秒触发，实际每批却是1.29和6.22条，因此不能把差额全部归为热区本身。此页用三次均值与观察范围描述结果，不能作显著性或生产容量结论。主测仍是HMAC授权，真实签名只另做了功能检查。 本实验没有直接查询业务期新撤销的身份，这部分服务路径仍需下一轮补充测量。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可能提问：高压力下不如批量，为什么还研究？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回答：完整近期状态允许某些查询少等历史维护，但总体表现还取决于保存、排队与实际批次。现有结果给出了需要控制和解释的代价，下一步围绕这些因素检验适用条件。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../../paper/11_13_week9_paper_revision/main_zh.tex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../../presentations/11_13_week9_paper_revision/assets/talk_evidence.json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第 10 页，建议 80 秒。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本周形成的主要认识，是把设计能提供的能力和实现测到的表现分开。完整近期资料让查询有机会先于历史维护回答，但它不是免费的，还要认证、持久化和发布。因此论文不能只写加入热区就更快，而要说明在什么工作负载下省掉哪些等待，又增加哪些工作。另一方面，同一例子必须在图、算法和正文里得到一致答案，尤其不能漏撤销、把无效证据当成不存在，或让旧确认清掉新事件。已有E15还提示，限定转换下最新事件映射也能保持双索引的答案，所以关键是完整近期状态，不是一定要两个物理索引。本轮没有新增测量，而是把这些条件和已有结果重新解释清楚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../../paper/11_13_week9_paper_revision/main_zh.tex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../../paper/11_13_week9_paper_revision/CHANGES.md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第 11 页，建议 80 秒。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下一步先补当前实验明确缺少的目标：直接查询业务期间新撤销的身份，让撤销热区的服务路径真正进入测量；同时覆盖先注册后撤销和旧确认之后的新事件，按实际回答前缀核对正确性。性能方面，真实Ed25519已有功能集成，还需要在统一载荷和时间边界下计时。另一项是匹配实际批次，尽量分开批形成与近期视图本身的成本。完成这些明确问题后，再延长窗口、扩大查询对象和采样进程资源，避免一次改变太多因素。所有新增结果都要有独立运行记录，并同步论文、图和算法。这里都是准备实施的工作，不把计划中的实验或密码学安全论证当成已经完成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../../paper/11_13_week9_paper_revision/NEXT_STEPS.md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../../paper/11_13_week9_paper_revision/main_zh.tex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第 12 页，建议 20 秒。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结束时可以用两句话回到本次汇报的主线：这周把近期注册与撤销怎样进入查询依据讲得更具体，并用已有实验同时解释等待收益和保存成本。完整近期状态能够帮助某些查询提前得到满足要求的答案，但总体收益仍需要结合实际负载和维护方式判断。说完后停下来接受讨论，不必重新逐页复述。若被问到为什么保留不利结果，可以说明这些结果帮助确定后续要控制实际批次和签名成本；若被问到系统是否已经生产就绪，应说明当前是可信管理者、本地链和有限负载下的研究原型。更多计时口径、算法分支与下一轮验收条件可根据问题再展开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../../paper/11_13_week9_paper_revision/main_zh.tex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../../paper/11_13_week9_paper_revision/NEXT_STEPS.md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918316"/>
          </a:xfrm>
          <a:custGeom>
            <a:avLst/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" y="-12947"/>
            <a:ext cx="5446133" cy="6870947"/>
          </a:xfrm>
          <a:custGeom>
            <a:avLst/>
            <a:gdLst>
              <a:gd name="connsiteX0" fmla="*/ 0 w 5446133"/>
              <a:gd name="connsiteY0" fmla="*/ 0 h 6870947"/>
              <a:gd name="connsiteX1" fmla="*/ 5446133 w 5446133"/>
              <a:gd name="connsiteY1" fmla="*/ 0 h 6870947"/>
              <a:gd name="connsiteX2" fmla="*/ 5446133 w 5446133"/>
              <a:gd name="connsiteY2" fmla="*/ 6870947 h 6870947"/>
              <a:gd name="connsiteX3" fmla="*/ 0 w 5446133"/>
              <a:gd name="connsiteY3" fmla="*/ 6870947 h 687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6133" h="6870947">
                <a:moveTo>
                  <a:pt x="0" y="0"/>
                </a:moveTo>
                <a:lnTo>
                  <a:pt x="5446133" y="0"/>
                </a:lnTo>
                <a:lnTo>
                  <a:pt x="5446133" y="6870947"/>
                </a:lnTo>
                <a:lnTo>
                  <a:pt x="0" y="687094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717074"/>
          </a:xfrm>
          <a:custGeom>
            <a:avLst/>
            <a:gdLst>
              <a:gd name="connsiteX0" fmla="*/ 0 w 12192000"/>
              <a:gd name="connsiteY0" fmla="*/ 0 h 2717074"/>
              <a:gd name="connsiteX1" fmla="*/ 12192000 w 12192000"/>
              <a:gd name="connsiteY1" fmla="*/ 0 h 2717074"/>
              <a:gd name="connsiteX2" fmla="*/ 12192000 w 12192000"/>
              <a:gd name="connsiteY2" fmla="*/ 2717074 h 2717074"/>
              <a:gd name="connsiteX3" fmla="*/ 0 w 12192000"/>
              <a:gd name="connsiteY3" fmla="*/ 2717074 h 2717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717074">
                <a:moveTo>
                  <a:pt x="0" y="0"/>
                </a:moveTo>
                <a:lnTo>
                  <a:pt x="12192000" y="0"/>
                </a:lnTo>
                <a:lnTo>
                  <a:pt x="12192000" y="2717074"/>
                </a:lnTo>
                <a:lnTo>
                  <a:pt x="0" y="271707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8697951" y="0"/>
            <a:ext cx="3494049" cy="6858000"/>
          </a:xfrm>
          <a:custGeom>
            <a:avLst/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194892" cy="6858000"/>
          </a:xfrm>
          <a:custGeom>
            <a:avLst/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740435" y="0"/>
            <a:ext cx="5451567" cy="6858000"/>
          </a:xfrm>
          <a:custGeom>
            <a:avLst/>
            <a:gdLst>
              <a:gd name="connsiteX0" fmla="*/ 0 w 5451566"/>
              <a:gd name="connsiteY0" fmla="*/ 0 h 6858000"/>
              <a:gd name="connsiteX1" fmla="*/ 5451566 w 5451566"/>
              <a:gd name="connsiteY1" fmla="*/ 0 h 6858000"/>
              <a:gd name="connsiteX2" fmla="*/ 5451566 w 5451566"/>
              <a:gd name="connsiteY2" fmla="*/ 6858000 h 6858000"/>
              <a:gd name="connsiteX3" fmla="*/ 0 w 54515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1566" h="6858000">
                <a:moveTo>
                  <a:pt x="0" y="0"/>
                </a:moveTo>
                <a:lnTo>
                  <a:pt x="5451566" y="0"/>
                </a:lnTo>
                <a:lnTo>
                  <a:pt x="545156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2"/>
            <a:ext cx="12192000" cy="6047117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2192000" cy="2486722"/>
          </a:xfrm>
          <a:custGeom>
            <a:avLst/>
            <a:gdLst>
              <a:gd name="connsiteX0" fmla="*/ 0 w 12192000"/>
              <a:gd name="connsiteY0" fmla="*/ 0 h 2486722"/>
              <a:gd name="connsiteX1" fmla="*/ 12192000 w 12192000"/>
              <a:gd name="connsiteY1" fmla="*/ 0 h 2486722"/>
              <a:gd name="connsiteX2" fmla="*/ 12192000 w 12192000"/>
              <a:gd name="connsiteY2" fmla="*/ 2486722 h 2486722"/>
              <a:gd name="connsiteX3" fmla="*/ 0 w 12192000"/>
              <a:gd name="connsiteY3" fmla="*/ 2486722 h 248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486722">
                <a:moveTo>
                  <a:pt x="0" y="0"/>
                </a:moveTo>
                <a:lnTo>
                  <a:pt x="12192000" y="0"/>
                </a:lnTo>
                <a:lnTo>
                  <a:pt x="12192000" y="2486722"/>
                </a:lnTo>
                <a:lnTo>
                  <a:pt x="0" y="248672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3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317625" y="1333500"/>
            <a:ext cx="2528888" cy="150336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4" name="图片占位符 9"/>
          <p:cNvSpPr>
            <a:spLocks noGrp="1"/>
          </p:cNvSpPr>
          <p:nvPr>
            <p:ph type="pic" sz="quarter" idx="11"/>
          </p:nvPr>
        </p:nvSpPr>
        <p:spPr>
          <a:xfrm>
            <a:off x="4831275" y="1344821"/>
            <a:ext cx="2528888" cy="150336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5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344925" y="1333500"/>
            <a:ext cx="2528888" cy="150336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016227" y="2773142"/>
            <a:ext cx="4972049" cy="2952750"/>
          </a:xfrm>
          <a:custGeom>
            <a:avLst/>
            <a:gdLst>
              <a:gd name="connsiteX0" fmla="*/ 0 w 4972049"/>
              <a:gd name="connsiteY0" fmla="*/ 0 h 2952750"/>
              <a:gd name="connsiteX1" fmla="*/ 4972049 w 4972049"/>
              <a:gd name="connsiteY1" fmla="*/ 0 h 2952750"/>
              <a:gd name="connsiteX2" fmla="*/ 4972049 w 4972049"/>
              <a:gd name="connsiteY2" fmla="*/ 2952750 h 2952750"/>
              <a:gd name="connsiteX3" fmla="*/ 0 w 4972049"/>
              <a:gd name="connsiteY3" fmla="*/ 2952750 h 295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2049" h="2952750">
                <a:moveTo>
                  <a:pt x="0" y="0"/>
                </a:moveTo>
                <a:lnTo>
                  <a:pt x="4972049" y="0"/>
                </a:lnTo>
                <a:lnTo>
                  <a:pt x="4972049" y="2952750"/>
                </a:lnTo>
                <a:lnTo>
                  <a:pt x="0" y="29527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5829300" y="1159833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1"/>
          </p:nvPr>
        </p:nvSpPr>
        <p:spPr>
          <a:xfrm>
            <a:off x="4962525" y="2955295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2"/>
          </p:nvPr>
        </p:nvSpPr>
        <p:spPr>
          <a:xfrm>
            <a:off x="5829300" y="4750758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0"/>
          </p:nvPr>
        </p:nvSpPr>
        <p:spPr>
          <a:xfrm>
            <a:off x="800100" y="1562099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1"/>
          </p:nvPr>
        </p:nvSpPr>
        <p:spPr>
          <a:xfrm>
            <a:off x="6391273" y="1562098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2"/>
          </p:nvPr>
        </p:nvSpPr>
        <p:spPr>
          <a:xfrm>
            <a:off x="800099" y="3990806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图片占位符 22"/>
          <p:cNvSpPr>
            <a:spLocks noGrp="1"/>
          </p:cNvSpPr>
          <p:nvPr>
            <p:ph type="pic" sz="quarter" idx="13"/>
          </p:nvPr>
        </p:nvSpPr>
        <p:spPr>
          <a:xfrm>
            <a:off x="6391272" y="3990805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93345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1"/>
          </p:nvPr>
        </p:nvSpPr>
        <p:spPr>
          <a:xfrm>
            <a:off x="303133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2"/>
          </p:nvPr>
        </p:nvSpPr>
        <p:spPr>
          <a:xfrm>
            <a:off x="512921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3"/>
          </p:nvPr>
        </p:nvSpPr>
        <p:spPr>
          <a:xfrm>
            <a:off x="7227093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4"/>
          </p:nvPr>
        </p:nvSpPr>
        <p:spPr>
          <a:xfrm>
            <a:off x="9324975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8353425" y="1152525"/>
            <a:ext cx="2638425" cy="2419350"/>
          </a:xfrm>
          <a:custGeom>
            <a:avLst/>
            <a:gdLst>
              <a:gd name="connsiteX0" fmla="*/ 2638425 w 2638425"/>
              <a:gd name="connsiteY0" fmla="*/ 0 h 2419350"/>
              <a:gd name="connsiteX1" fmla="*/ 2486025 w 2638425"/>
              <a:gd name="connsiteY1" fmla="*/ 2228850 h 2419350"/>
              <a:gd name="connsiteX2" fmla="*/ 0 w 2638425"/>
              <a:gd name="connsiteY2" fmla="*/ 2419350 h 2419350"/>
              <a:gd name="connsiteX3" fmla="*/ 171450 w 2638425"/>
              <a:gd name="connsiteY3" fmla="*/ 695325 h 241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8425" h="2419350">
                <a:moveTo>
                  <a:pt x="2638425" y="0"/>
                </a:moveTo>
                <a:lnTo>
                  <a:pt x="2486025" y="2228850"/>
                </a:lnTo>
                <a:lnTo>
                  <a:pt x="0" y="2419350"/>
                </a:lnTo>
                <a:lnTo>
                  <a:pt x="171450" y="69532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590551" y="1437117"/>
            <a:ext cx="5505451" cy="3392058"/>
          </a:xfrm>
          <a:custGeom>
            <a:avLst/>
            <a:gdLst>
              <a:gd name="connsiteX0" fmla="*/ 0 w 5505450"/>
              <a:gd name="connsiteY0" fmla="*/ 0 h 3392058"/>
              <a:gd name="connsiteX1" fmla="*/ 5505450 w 5505450"/>
              <a:gd name="connsiteY1" fmla="*/ 0 h 3392058"/>
              <a:gd name="connsiteX2" fmla="*/ 5505450 w 5505450"/>
              <a:gd name="connsiteY2" fmla="*/ 3392058 h 3392058"/>
              <a:gd name="connsiteX3" fmla="*/ 0 w 5505450"/>
              <a:gd name="connsiteY3" fmla="*/ 3392058 h 3392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5450" h="3392058">
                <a:moveTo>
                  <a:pt x="0" y="0"/>
                </a:moveTo>
                <a:lnTo>
                  <a:pt x="5505450" y="0"/>
                </a:lnTo>
                <a:lnTo>
                  <a:pt x="5505450" y="3392058"/>
                </a:lnTo>
                <a:lnTo>
                  <a:pt x="0" y="339205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zh-CN" altLang="en-US" dirty="0">
                <a:latin typeface="Arial" panose="020B0604020202020204" pitchFamily="34" charset="0"/>
              </a:rPr>
              <a:t>P2P网络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 dirty="0">
                <a:latin typeface="Arial" panose="020B0604020202020204" pitchFamily="34" charset="0"/>
              </a:rPr>
              <a:t>CCF@U第1244场，西北大学，2025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8048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0" y="1017588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5965593-6650-4D71-86DF-9257E339D58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charset="0"/>
                <a:ea typeface="宋体" panose="02010600030101010101" pitchFamily="2" charset="-122"/>
                <a:cs typeface="+mn-cs"/>
                <a:sym typeface="Tw Cen MT" panose="020B0602020104020603" charset="0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Tw Cen MT" panose="020B06020201040206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918316"/>
          </a:xfrm>
          <a:custGeom>
            <a:avLst/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4.xml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2542032" y="3538728"/>
            <a:ext cx="786384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75000"/>
                    <a:alpha val="5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  <a:lnSpc>
                <a:spcPct val="115000"/>
              </a:lnSpc>
              <a:spcAft>
                <a:spcPts val="2200"/>
              </a:spcAft>
            </a:pPr>
            <a:r>
              <a:rPr sz="32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Week9 进展汇报</a:t>
            </a:r>
          </a:p>
          <a:p>
            <a:pPr algn="ctr" marL="0" indent="0">
              <a:buNone/>
              <a:lnSpc>
                <a:spcPct val="115000"/>
              </a:lnSpc>
              <a:spcAft>
                <a:spcPts val="2200"/>
              </a:spcAft>
            </a:pPr>
            <a:r>
              <a:rPr sz="32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HotRevoke：近期状态与查询判断</a:t>
            </a:r>
          </a:p>
          <a:p>
            <a:pPr algn="ctr" marL="0" indent="0">
              <a:buNone/>
              <a:lnSpc>
                <a:spcPct val="115000"/>
              </a:lnSpc>
              <a:spcAft>
                <a:spcPts val="2200"/>
              </a:spcAft>
            </a:pPr>
            <a:r>
              <a:rPr sz="32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钟民杰  11.13</a:t>
            </a:r>
          </a:p>
        </p:txBody>
      </p:sp>
      <p:pic>
        <p:nvPicPr>
          <p:cNvPr id="2" name="图片 1" descr="d841307fae2bdba3e4eb4ccc9ba62a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432165" cy="2451100"/>
          </a:xfrm>
          <a:prstGeom prst="rect">
            <a:avLst/>
          </a:prstGeom>
        </p:spPr>
      </p:pic>
      <p:pic>
        <p:nvPicPr>
          <p:cNvPr id="3" name="图片 2" descr="15859698dea59d9263aee9ba8c17c59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985" y="368935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94360" y="182880"/>
            <a:ext cx="10972800" cy="694944"/>
          </a:xfrm>
          <a:prstGeom prst="rect">
            <a:avLst/>
          </a:prstGeom>
          <a:noFill/>
        </p:spPr>
        <p:txBody>
          <a:bodyPr wrap="square" rtlCol="0" anchor="t" lIns="0" rIns="0" tIns="0" bIns="0">
            <a:noAutofit/>
          </a:bodyPr>
          <a:lstStyle/>
          <a:p>
            <a:pPr algn="ctr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40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主要任务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Week9 text"/>
          <p:cNvSpPr txBox="1"/>
          <p:nvPr/>
        </p:nvSpPr>
        <p:spPr>
          <a:xfrm>
            <a:off x="822960" y="1581912"/>
            <a:ext cx="10561320" cy="3931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短期目标：统一问题、架构和查询含义</a:t>
            </a:r>
          </a:p>
        </p:txBody>
      </p:sp>
      <p:sp>
        <p:nvSpPr>
          <p:cNvPr id="10" name="Week9 text"/>
          <p:cNvSpPr txBox="1"/>
          <p:nvPr/>
        </p:nvSpPr>
        <p:spPr>
          <a:xfrm>
            <a:off x="822960" y="2048256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用连续的注册与撤销例子解释历史更新前的查询困难，讲清请求怎样被接受、变化怎样被查询看见，并让正文、流程图和算法使用同一套说明。</a:t>
            </a:r>
          </a:p>
        </p:txBody>
      </p:sp>
      <p:sp>
        <p:nvSpPr>
          <p:cNvPr id="11" name="Week9 text"/>
          <p:cNvSpPr txBox="1"/>
          <p:nvPr/>
        </p:nvSpPr>
        <p:spPr>
          <a:xfrm>
            <a:off x="822960" y="3063240"/>
            <a:ext cx="10561320" cy="3931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中长期目标：把已有实验解释完整</a:t>
            </a:r>
          </a:p>
        </p:txBody>
      </p:sp>
      <p:sp>
        <p:nvSpPr>
          <p:cNvPr id="12" name="Week9 text"/>
          <p:cNvSpPr txBox="1"/>
          <p:nvPr/>
        </p:nvSpPr>
        <p:spPr>
          <a:xfrm>
            <a:off x="822960" y="3529584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结合E13和E16观察查询少等了什么、系统多保存了什么，同时记录实际批大小和不利结果，判断近期状态提前参与查询在什么条件下值得付出成本。</a:t>
            </a:r>
          </a:p>
        </p:txBody>
      </p:sp>
      <p:sp>
        <p:nvSpPr>
          <p:cNvPr id="13" name="Week9 text"/>
          <p:cNvSpPr txBox="1"/>
          <p:nvPr/>
        </p:nvSpPr>
        <p:spPr>
          <a:xfrm>
            <a:off x="822960" y="4544568"/>
            <a:ext cx="10561320" cy="3931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长期目标：形成可复查的论文论证</a:t>
            </a:r>
          </a:p>
        </p:txBody>
      </p:sp>
      <p:sp>
        <p:nvSpPr>
          <p:cNvPr id="14" name="Week9 text"/>
          <p:cNvSpPr txBox="1"/>
          <p:nvPr/>
        </p:nvSpPr>
        <p:spPr>
          <a:xfrm>
            <a:off x="822960" y="5010912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把研究问题、相关工作、设计和实验连接起来，明确当前结论的适用范围，再围绕新撤销查询、真实签名和实际批次差异安排有针对性的补充实验。</a:t>
            </a:r>
          </a:p>
        </p:txBody>
      </p:sp>
      <p:sp>
        <p:nvSpPr>
          <p:cNvPr id="15" name="Week9 text"/>
          <p:cNvSpPr txBox="1"/>
          <p:nvPr/>
        </p:nvSpPr>
        <p:spPr>
          <a:xfrm>
            <a:off x="822960" y="6391656"/>
            <a:ext cx="1056132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500" b="0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本周以论文说明与证据解释为主，实验沿用已有审核结果。</a:t>
            </a:r>
          </a:p>
        </p:txBody>
      </p:sp>
      <p:sp>
        <p:nvSpPr>
          <p:cNvPr id="16" name="Briefing Page Number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4" name="Attached process connector"/>
          <p:cNvCxnSpPr>
            <a:stCxn id="11" idx="3"/>
            <a:endCxn id="12" idx="1"/>
          </p:cNvCxnSpPr>
          <p:nvPr/>
        </p:nvCxnSpPr>
        <p:spPr>
          <a:xfrm>
            <a:off x="7662672" y="3031236"/>
            <a:ext cx="621792" cy="0"/>
          </a:xfrm>
          <a:prstGeom prst="line">
            <a:avLst/>
          </a:prstGeom>
          <a:ln w="15240">
            <a:solidFill>
              <a:srgbClr val="245680"/>
            </a:solidFill>
            <a:tailEnd type="triangle"/>
          </a:ln>
        </p:spPr>
      </p:cxnSp>
      <p:cxnSp>
        <p:nvCxnSpPr>
          <p:cNvPr id="13" name="Attached process connector"/>
          <p:cNvCxnSpPr>
            <a:stCxn id="10" idx="3"/>
            <a:endCxn id="11" idx="1"/>
          </p:cNvCxnSpPr>
          <p:nvPr/>
        </p:nvCxnSpPr>
        <p:spPr>
          <a:xfrm>
            <a:off x="3931920" y="3031236"/>
            <a:ext cx="621792" cy="0"/>
          </a:xfrm>
          <a:prstGeom prst="line">
            <a:avLst/>
          </a:prstGeom>
          <a:ln w="15240">
            <a:solidFill>
              <a:srgbClr val="245680"/>
            </a:solidFill>
            <a:tailEnd type="triangle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2880"/>
            <a:ext cx="8229600" cy="585216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2800" b="0" lang="zh-CN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近期注册与撤销带来的查询问题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9" name="Week9 text"/>
          <p:cNvSpPr txBox="1"/>
          <p:nvPr/>
        </p:nvSpPr>
        <p:spPr>
          <a:xfrm>
            <a:off x="758952" y="1307592"/>
            <a:ext cx="10652760" cy="83210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请求签名说明谁在操作，应用还要确认其资格是否有效。近期注册或撤销尚未并入历史时，旧历史不足以说明当前状态。</a:t>
            </a:r>
          </a:p>
        </p:txBody>
      </p:sp>
      <p:sp>
        <p:nvSpPr>
          <p:cNvPr id="10" name="Editable process module"/>
          <p:cNvSpPr txBox="1"/>
          <p:nvPr/>
        </p:nvSpPr>
        <p:spPr>
          <a:xfrm>
            <a:off x="822960" y="2542032"/>
            <a:ext cx="3108960" cy="978408"/>
          </a:xfrm>
          <a:prstGeom prst="rect">
            <a:avLst/>
          </a:prstGeom>
          <a:ln w="12700">
            <a:solidFill>
              <a:srgbClr val="3D7244"/>
            </a:solidFill>
          </a:ln>
          <a:solidFill>
            <a:srgbClr val="ECF4E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40：历史已经维护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其中还没有小明</a:t>
            </a:r>
          </a:p>
        </p:txBody>
      </p:sp>
      <p:sp>
        <p:nvSpPr>
          <p:cNvPr id="11" name="Editable process module"/>
          <p:cNvSpPr txBox="1"/>
          <p:nvPr/>
        </p:nvSpPr>
        <p:spPr>
          <a:xfrm>
            <a:off x="4553712" y="2542032"/>
            <a:ext cx="3108960" cy="978408"/>
          </a:xfrm>
          <a:prstGeom prst="rect">
            <a:avLst/>
          </a:prstGeom>
          <a:ln w="12700">
            <a:solidFill>
              <a:srgbClr val="A46A25"/>
            </a:solidFill>
          </a:ln>
          <a:solidFill>
            <a:srgbClr val="FFF2DF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41：注册已接受并发布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新资格尚未进入历史</a:t>
            </a:r>
          </a:p>
        </p:txBody>
      </p:sp>
      <p:sp>
        <p:nvSpPr>
          <p:cNvPr id="12" name="Editable process module"/>
          <p:cNvSpPr txBox="1"/>
          <p:nvPr/>
        </p:nvSpPr>
        <p:spPr>
          <a:xfrm>
            <a:off x="8284464" y="2542032"/>
            <a:ext cx="3108960" cy="978408"/>
          </a:xfrm>
          <a:prstGeom prst="rect">
            <a:avLst/>
          </a:prstGeom>
          <a:ln w="12700">
            <a:solidFill>
              <a:srgbClr val="A23838"/>
            </a:solidFill>
          </a:ln>
          <a:solidFill>
            <a:srgbClr val="FCECE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42：撤销已接受并发布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应反映新的失效事实</a:t>
            </a:r>
          </a:p>
        </p:txBody>
      </p:sp>
      <p:sp>
        <p:nvSpPr>
          <p:cNvPr id="15" name="Week9 text"/>
          <p:cNvSpPr txBox="1"/>
          <p:nvPr/>
        </p:nvSpPr>
        <p:spPr>
          <a:xfrm>
            <a:off x="850392" y="395020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注册后的查询</a:t>
            </a:r>
          </a:p>
        </p:txBody>
      </p:sp>
      <p:sp>
        <p:nvSpPr>
          <p:cNvPr id="16" name="Week9 text"/>
          <p:cNvSpPr txBox="1"/>
          <p:nvPr/>
        </p:nvSpPr>
        <p:spPr>
          <a:xfrm>
            <a:off x="3063240" y="3950208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旧历史还找不到小明，需要近期注册补充。</a:t>
            </a:r>
          </a:p>
        </p:txBody>
      </p:sp>
      <p:sp>
        <p:nvSpPr>
          <p:cNvPr id="17" name="Week9 text"/>
          <p:cNvSpPr txBox="1"/>
          <p:nvPr/>
        </p:nvSpPr>
        <p:spPr>
          <a:xfrm>
            <a:off x="850392" y="47548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撤销后的查询</a:t>
            </a:r>
          </a:p>
        </p:txBody>
      </p:sp>
      <p:sp>
        <p:nvSpPr>
          <p:cNvPr id="18" name="Week9 text"/>
          <p:cNvSpPr txBox="1"/>
          <p:nvPr/>
        </p:nvSpPr>
        <p:spPr>
          <a:xfrm>
            <a:off x="3063240" y="4754880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即使已经看到注册，也必须解释后来的撤销。</a:t>
            </a:r>
          </a:p>
        </p:txBody>
      </p:sp>
      <p:sp>
        <p:nvSpPr>
          <p:cNvPr id="19" name="Week9 text"/>
          <p:cNvSpPr txBox="1"/>
          <p:nvPr/>
        </p:nvSpPr>
        <p:spPr>
          <a:xfrm>
            <a:off x="777240" y="5797296"/>
            <a:ext cx="10698480" cy="56692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HotRevoke 先把完整近期记录与历史一起用于查询，再批量维护历史。</a:t>
            </a:r>
          </a:p>
        </p:txBody>
      </p:sp>
      <p:sp>
        <p:nvSpPr>
          <p:cNvPr id="20" name="Briefing Page Number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2880"/>
            <a:ext cx="8229600" cy="585216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2800" b="0" lang="zh-CN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已有工作与本周研究重点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9" name="Week9 text"/>
          <p:cNvSpPr txBox="1"/>
          <p:nvPr/>
        </p:nvSpPr>
        <p:spPr>
          <a:xfrm>
            <a:off x="758952" y="1307592"/>
            <a:ext cx="10698480" cy="75895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现有方案已经能更新密码学状态，也能结合近期变化或聚合发布。本周继续明确：查询何时能用这些资料回答。</a:t>
            </a:r>
          </a:p>
        </p:txBody>
      </p:sp>
      <p:graphicFrame>
        <p:nvGraphicFramePr>
          <p:cNvPr id="90" name="Editable evidence table"/>
          <p:cNvGraphicFramePr/>
          <p:nvPr/>
        </p:nvGraphicFramePr>
        <p:xfrm>
          <a:off x="749808" y="2322576"/>
          <a:ext cx="10698480" cy="2450592"/>
        </p:xfrm>
        <a:graphic>
          <a:graphicData uri="http://schemas.openxmlformats.org/drawingml/2006/main/table">
            <a:tbl>
              <a:tblPr firstRow="1" bandRow="0"/>
              <a:tblGrid>
                <a:gridCol w="3246120"/>
                <a:gridCol w="7452360"/>
              </a:tblGrid>
              <a:tr h="612648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100">
                          <a:solidFill>
                            <a:srgbClr val="245680"/>
                          </a:solidFill>
                          <a:latin typeface="Times New Roman"/>
                          <a:ea typeface="宋体"/>
                        </a:rPr>
                        <a:t>已有工作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100">
                          <a:solidFill>
                            <a:srgbClr val="245680"/>
                          </a:solidFill>
                          <a:latin typeface="Times New Roman"/>
                          <a:ea typeface="宋体"/>
                        </a:rPr>
                        <a:t>已经具备的能力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E9F0F5"/>
                    </a:solidFill>
                  </a:tcPr>
                </a:tc>
              </a:tr>
              <a:tr h="612648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CL / VB 累加器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动态更新、批量更新与见证维护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CRLite / Clubcards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利用近期变化与历史摘要判断撤销，并处理覆盖范围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Sidetree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聚合 DID 操作，再按批发布和处理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Week9 text"/>
          <p:cNvSpPr txBox="1"/>
          <p:nvPr/>
        </p:nvSpPr>
        <p:spPr>
          <a:xfrm>
            <a:off x="786384" y="5102352"/>
            <a:ext cx="106527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本周进一步收敛的问题</a:t>
            </a:r>
          </a:p>
        </p:txBody>
      </p:sp>
      <p:sp>
        <p:nvSpPr>
          <p:cNvPr id="92" name="Week9 text"/>
          <p:cNvSpPr txBox="1"/>
          <p:nvPr/>
        </p:nvSpPr>
        <p:spPr>
          <a:xfrm>
            <a:off x="786384" y="5559552"/>
            <a:ext cx="10652760" cy="76809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固定相同的新鲜度要求，比较逐次、批量与双热三种策略何时能够回答，以及多做多少发布和保存工作。</a:t>
            </a:r>
          </a:p>
        </p:txBody>
      </p:sp>
      <p:sp>
        <p:nvSpPr>
          <p:cNvPr id="93" name="Briefing Page Number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6" name="Attached process connector"/>
          <p:cNvCxnSpPr>
            <a:stCxn id="20" idx="3"/>
            <a:endCxn id="12" idx="2"/>
          </p:cNvCxnSpPr>
          <p:nvPr/>
        </p:nvCxnSpPr>
        <p:spPr>
          <a:xfrm flipV="1">
            <a:off x="4946904" y="3465576"/>
            <a:ext cx="2340864" cy="1380744"/>
          </a:xfrm>
          <a:prstGeom prst="bentConnector4">
            <a:avLst>
              <a:gd name="adj1" fmla="val 10000"/>
              <a:gd name="adj2" fmla="val 53000"/>
            </a:avLst>
          </a:prstGeom>
          <a:ln w="15240">
            <a:solidFill>
              <a:srgbClr val="3D7244"/>
            </a:solidFill>
            <a:tailEnd type="triangle"/>
          </a:ln>
        </p:spPr>
      </p:cxnSp>
      <p:cxnSp>
        <p:nvCxnSpPr>
          <p:cNvPr id="25" name="Attached process connector"/>
          <p:cNvCxnSpPr>
            <a:stCxn id="21" idx="3"/>
            <a:endCxn id="22" idx="1"/>
          </p:cNvCxnSpPr>
          <p:nvPr/>
        </p:nvCxnSpPr>
        <p:spPr>
          <a:xfrm>
            <a:off x="8293608" y="4846320"/>
            <a:ext cx="850392" cy="0"/>
          </a:xfrm>
          <a:prstGeom prst="line">
            <a:avLst/>
          </a:prstGeom>
          <a:ln w="15240">
            <a:solidFill>
              <a:srgbClr val="3D7244"/>
            </a:solidFill>
            <a:tailEnd type="triangle"/>
          </a:ln>
        </p:spPr>
      </p:cxnSp>
      <p:cxnSp>
        <p:nvCxnSpPr>
          <p:cNvPr id="24" name="Attached process connector"/>
          <p:cNvCxnSpPr>
            <a:stCxn id="20" idx="3"/>
            <a:endCxn id="21" idx="1"/>
          </p:cNvCxnSpPr>
          <p:nvPr/>
        </p:nvCxnSpPr>
        <p:spPr>
          <a:xfrm>
            <a:off x="4946904" y="4846320"/>
            <a:ext cx="969264" cy="0"/>
          </a:xfrm>
          <a:prstGeom prst="line">
            <a:avLst/>
          </a:prstGeom>
          <a:ln w="15240">
            <a:solidFill>
              <a:srgbClr val="3D7244"/>
            </a:solidFill>
            <a:tailEnd type="triangle"/>
          </a:ln>
        </p:spPr>
      </p:cxnSp>
      <p:cxnSp>
        <p:nvCxnSpPr>
          <p:cNvPr id="23" name="Attached process connector"/>
          <p:cNvCxnSpPr>
            <a:stCxn id="11" idx="2"/>
            <a:endCxn id="20" idx="0"/>
          </p:cNvCxnSpPr>
          <p:nvPr/>
        </p:nvCxnSpPr>
        <p:spPr>
          <a:xfrm>
            <a:off x="3973068" y="3154680"/>
            <a:ext cx="0" cy="1225296"/>
          </a:xfrm>
          <a:prstGeom prst="line">
            <a:avLst/>
          </a:prstGeom>
          <a:ln w="15240">
            <a:solidFill>
              <a:srgbClr val="3D7244"/>
            </a:solidFill>
            <a:tailEnd type="triangle"/>
          </a:ln>
        </p:spPr>
      </p:cxnSp>
      <p:cxnSp>
        <p:nvCxnSpPr>
          <p:cNvPr id="19" name="Attached process connector"/>
          <p:cNvCxnSpPr>
            <a:stCxn id="12" idx="3"/>
            <a:endCxn id="16" idx="1"/>
          </p:cNvCxnSpPr>
          <p:nvPr/>
        </p:nvCxnSpPr>
        <p:spPr>
          <a:xfrm flipV="1">
            <a:off x="9107424" y="2688336"/>
            <a:ext cx="521208" cy="18288"/>
          </a:xfrm>
          <a:prstGeom prst="line">
            <a:avLst/>
          </a:prstGeom>
          <a:ln w="15240">
            <a:solidFill>
              <a:srgbClr val="245680"/>
            </a:solidFill>
            <a:tailEnd type="triangle"/>
          </a:ln>
        </p:spPr>
      </p:cxnSp>
      <p:cxnSp>
        <p:nvCxnSpPr>
          <p:cNvPr id="18" name="Attached process connector"/>
          <p:cNvCxnSpPr>
            <a:stCxn id="11" idx="3"/>
            <a:endCxn id="12" idx="1"/>
          </p:cNvCxnSpPr>
          <p:nvPr/>
        </p:nvCxnSpPr>
        <p:spPr>
          <a:xfrm>
            <a:off x="4946904" y="2688336"/>
            <a:ext cx="521208" cy="18288"/>
          </a:xfrm>
          <a:prstGeom prst="line">
            <a:avLst/>
          </a:prstGeom>
          <a:ln w="15240">
            <a:solidFill>
              <a:srgbClr val="245680"/>
            </a:solidFill>
            <a:tailEnd type="triangle"/>
          </a:ln>
        </p:spPr>
      </p:cxnSp>
      <p:cxnSp>
        <p:nvCxnSpPr>
          <p:cNvPr id="17" name="Attached process connector"/>
          <p:cNvCxnSpPr>
            <a:stCxn id="10" idx="3"/>
            <a:endCxn id="11" idx="1"/>
          </p:cNvCxnSpPr>
          <p:nvPr/>
        </p:nvCxnSpPr>
        <p:spPr>
          <a:xfrm>
            <a:off x="2560320" y="2688336"/>
            <a:ext cx="438912" cy="0"/>
          </a:xfrm>
          <a:prstGeom prst="line">
            <a:avLst/>
          </a:prstGeom>
          <a:ln w="15240">
            <a:solidFill>
              <a:srgbClr val="245680"/>
            </a:solidFill>
            <a:tailEnd type="triangle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2880"/>
            <a:ext cx="8229600" cy="585216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2800" b="0" lang="zh-CN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从请求接受到查询可见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9" name="Week9 text"/>
          <p:cNvSpPr txBox="1"/>
          <p:nvPr/>
        </p:nvSpPr>
        <p:spPr>
          <a:xfrm>
            <a:off x="758952" y="128016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合法请求先可靠保存，再发布完整查询资料。接受、查询、历史维护与链确认分别记录进度。</a:t>
            </a:r>
          </a:p>
        </p:txBody>
      </p:sp>
      <p:sp>
        <p:nvSpPr>
          <p:cNvPr id="10" name="Editable process module"/>
          <p:cNvSpPr txBox="1"/>
          <p:nvPr/>
        </p:nvSpPr>
        <p:spPr>
          <a:xfrm>
            <a:off x="731520" y="2221992"/>
            <a:ext cx="1828800" cy="932688"/>
          </a:xfrm>
          <a:prstGeom prst="rect">
            <a:avLst/>
          </a:prstGeom>
          <a:ln w="12700">
            <a:solidFill>
              <a:srgbClr val="245680"/>
            </a:solidFill>
          </a:ln>
          <a:solidFill>
            <a:srgbClr val="E9F2F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请求核验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检查操作权限</a:t>
            </a:r>
          </a:p>
        </p:txBody>
      </p:sp>
      <p:sp>
        <p:nvSpPr>
          <p:cNvPr id="11" name="Editable process module"/>
          <p:cNvSpPr txBox="1"/>
          <p:nvPr/>
        </p:nvSpPr>
        <p:spPr>
          <a:xfrm>
            <a:off x="2999232" y="2221992"/>
            <a:ext cx="1947672" cy="932688"/>
          </a:xfrm>
          <a:prstGeom prst="rect">
            <a:avLst/>
          </a:prstGeom>
          <a:ln w="12700">
            <a:solidFill>
              <a:srgbClr val="A46A25"/>
            </a:solidFill>
          </a:ln>
          <a:solidFill>
            <a:srgbClr val="FFF2DF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完整操作日志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接受到 Q</a:t>
            </a:r>
          </a:p>
        </p:txBody>
      </p:sp>
      <p:sp>
        <p:nvSpPr>
          <p:cNvPr id="12" name="Published complete view"/>
          <p:cNvSpPr txBox="1"/>
          <p:nvPr/>
        </p:nvSpPr>
        <p:spPr>
          <a:xfrm>
            <a:off x="5468112" y="1947672"/>
            <a:ext cx="3639312" cy="1517904"/>
          </a:xfrm>
          <a:prstGeom prst="rect">
            <a:avLst/>
          </a:prstGeom>
          <a:ln w="12700">
            <a:solidFill>
              <a:srgbClr val="245680"/>
            </a:solidFill>
          </a:ln>
          <a:solidFill>
            <a:srgbClr val="E9F2F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</p:txBody>
      </p:sp>
      <p:sp>
        <p:nvSpPr>
          <p:cNvPr id="13" name="Week9 text"/>
          <p:cNvSpPr txBox="1"/>
          <p:nvPr/>
        </p:nvSpPr>
        <p:spPr>
          <a:xfrm>
            <a:off x="5596128" y="20574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900" b="1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已发布的查询资料：覆盖到 h</a:t>
            </a:r>
          </a:p>
        </p:txBody>
      </p:sp>
      <p:sp>
        <p:nvSpPr>
          <p:cNvPr id="14" name="Editable process module"/>
          <p:cNvSpPr txBox="1"/>
          <p:nvPr/>
        </p:nvSpPr>
        <p:spPr>
          <a:xfrm>
            <a:off x="5650992" y="2615184"/>
            <a:ext cx="1508760" cy="621792"/>
          </a:xfrm>
          <a:prstGeom prst="rect">
            <a:avLst/>
          </a:prstGeom>
          <a:ln w="12700">
            <a:solidFill>
              <a:srgbClr val="3D7244"/>
            </a:solidFill>
          </a:ln>
          <a:solidFill>
            <a:srgbClr val="ECF4E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6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历史 G / R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6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已整理到 p</a:t>
            </a:r>
          </a:p>
        </p:txBody>
      </p:sp>
      <p:sp>
        <p:nvSpPr>
          <p:cNvPr id="15" name="Editable process module"/>
          <p:cNvSpPr txBox="1"/>
          <p:nvPr/>
        </p:nvSpPr>
        <p:spPr>
          <a:xfrm>
            <a:off x="7388352" y="2615184"/>
            <a:ext cx="1508760" cy="621792"/>
          </a:xfrm>
          <a:prstGeom prst="rect">
            <a:avLst/>
          </a:prstGeom>
          <a:ln w="12700">
            <a:solidFill>
              <a:srgbClr val="A46A25"/>
            </a:solidFill>
          </a:ln>
          <a:solidFill>
            <a:srgbClr val="FFF2DF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6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近期 U / V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6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补齐 p+1…h</a:t>
            </a:r>
          </a:p>
        </p:txBody>
      </p:sp>
      <p:sp>
        <p:nvSpPr>
          <p:cNvPr id="16" name="Editable process module"/>
          <p:cNvSpPr txBox="1"/>
          <p:nvPr/>
        </p:nvSpPr>
        <p:spPr>
          <a:xfrm>
            <a:off x="9628632" y="2221992"/>
            <a:ext cx="1847088" cy="932688"/>
          </a:xfrm>
          <a:prstGeom prst="rect">
            <a:avLst/>
          </a:prstGeom>
          <a:ln w="12700">
            <a:solidFill>
              <a:srgbClr val="245680"/>
            </a:solidFill>
          </a:ln>
          <a:solidFill>
            <a:srgbClr val="E9F2F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核验并查询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返回状态与 u</a:t>
            </a:r>
          </a:p>
        </p:txBody>
      </p:sp>
      <p:sp>
        <p:nvSpPr>
          <p:cNvPr id="20" name="Editable process module"/>
          <p:cNvSpPr txBox="1"/>
          <p:nvPr/>
        </p:nvSpPr>
        <p:spPr>
          <a:xfrm>
            <a:off x="2999232" y="4379976"/>
            <a:ext cx="1947672" cy="932688"/>
          </a:xfrm>
          <a:prstGeom prst="rect">
            <a:avLst/>
          </a:prstGeom>
          <a:ln w="12700">
            <a:solidFill>
              <a:srgbClr val="3D7244"/>
            </a:solidFill>
          </a:ln>
          <a:solidFill>
            <a:srgbClr val="ECF4E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批量更新历史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推进 p</a:t>
            </a:r>
          </a:p>
        </p:txBody>
      </p:sp>
      <p:sp>
        <p:nvSpPr>
          <p:cNvPr id="21" name="Editable process module"/>
          <p:cNvSpPr txBox="1"/>
          <p:nvPr/>
        </p:nvSpPr>
        <p:spPr>
          <a:xfrm>
            <a:off x="5916168" y="4379976"/>
            <a:ext cx="2377440" cy="932688"/>
          </a:xfrm>
          <a:prstGeom prst="rect">
            <a:avLst/>
          </a:prstGeom>
          <a:ln w="12700">
            <a:solidFill>
              <a:srgbClr val="3D7244"/>
            </a:solidFill>
          </a:ln>
          <a:solidFill>
            <a:srgbClr val="ECF4E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核对并保存确认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确认到 c</a:t>
            </a:r>
          </a:p>
        </p:txBody>
      </p:sp>
      <p:sp>
        <p:nvSpPr>
          <p:cNvPr id="22" name="Editable process module"/>
          <p:cNvSpPr txBox="1"/>
          <p:nvPr/>
        </p:nvSpPr>
        <p:spPr>
          <a:xfrm>
            <a:off x="9144000" y="4379976"/>
            <a:ext cx="2331720" cy="932688"/>
          </a:xfrm>
          <a:prstGeom prst="rect">
            <a:avLst/>
          </a:prstGeom>
          <a:ln w="12700">
            <a:solidFill>
              <a:srgbClr val="3D7244"/>
            </a:solidFill>
          </a:ln>
          <a:solidFill>
            <a:srgbClr val="ECF4E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按确认序号回收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保留 seq &gt; c</a:t>
            </a:r>
          </a:p>
        </p:txBody>
      </p:sp>
      <p:sp>
        <p:nvSpPr>
          <p:cNvPr id="27" name="Week9 text"/>
          <p:cNvSpPr txBox="1"/>
          <p:nvPr/>
        </p:nvSpPr>
        <p:spPr>
          <a:xfrm>
            <a:off x="5321808" y="365760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500" b="0" lang="zh-CN">
                <a:solidFill>
                  <a:srgbClr val="3D7244"/>
                </a:solidFill>
                <a:latin typeface="Times New Roman"/>
                <a:ea typeface="宋体"/>
                <a:cs typeface="宋体"/>
              </a:rPr>
              <a:t>维护后重新发布</a:t>
            </a:r>
          </a:p>
        </p:txBody>
      </p:sp>
      <p:sp>
        <p:nvSpPr>
          <p:cNvPr id="28" name="Week9 text"/>
          <p:cNvSpPr txBox="1"/>
          <p:nvPr/>
        </p:nvSpPr>
        <p:spPr>
          <a:xfrm>
            <a:off x="777240" y="565099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接受、可查、历史维护与链确认，分别表示四个进度。</a:t>
            </a:r>
          </a:p>
        </p:txBody>
      </p:sp>
      <p:sp>
        <p:nvSpPr>
          <p:cNvPr id="29" name="Week9 text"/>
          <p:cNvSpPr txBox="1"/>
          <p:nvPr/>
        </p:nvSpPr>
        <p:spPr>
          <a:xfrm>
            <a:off x="777240" y="6208776"/>
            <a:ext cx="10698480" cy="28346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6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近期注册和撤销必须覆盖同一区间；当前原型在链调用期间持有管理者锁。</a:t>
            </a:r>
          </a:p>
        </p:txBody>
      </p:sp>
      <p:sp>
        <p:nvSpPr>
          <p:cNvPr id="30" name="Briefing Page Number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2880"/>
            <a:ext cx="8229600" cy="585216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2800" b="0" lang="zh-CN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一次查询应该看到哪些变化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9" name="Week9 text"/>
          <p:cNvSpPr txBox="1"/>
          <p:nvPr/>
        </p:nvSpPr>
        <p:spPr>
          <a:xfrm>
            <a:off x="758952" y="1316736"/>
            <a:ext cx="10698480" cy="61264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q：查询至少要看到哪一步    h：资料完整处理到哪一步    u：答案实际使用哪一步</a:t>
            </a:r>
          </a:p>
        </p:txBody>
      </p:sp>
      <p:graphicFrame>
        <p:nvGraphicFramePr>
          <p:cNvPr id="90" name="Editable evidence table"/>
          <p:cNvGraphicFramePr/>
          <p:nvPr/>
        </p:nvGraphicFramePr>
        <p:xfrm>
          <a:off x="749808" y="2267712"/>
          <a:ext cx="10698480" cy="2542032"/>
        </p:xfrm>
        <a:graphic>
          <a:graphicData uri="http://schemas.openxmlformats.org/drawingml/2006/main/table">
            <a:tbl>
              <a:tblPr firstRow="1" bandRow="0"/>
              <a:tblGrid>
                <a:gridCol w="3429000"/>
                <a:gridCol w="1143000"/>
                <a:gridCol w="1417320"/>
                <a:gridCol w="4709160"/>
              </a:tblGrid>
              <a:tr h="635508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245680"/>
                          </a:solidFill>
                          <a:latin typeface="Times New Roman"/>
                          <a:ea typeface="宋体"/>
                        </a:rPr>
                        <a:t>同一个小明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245680"/>
                          </a:solidFill>
                          <a:latin typeface="Times New Roman"/>
                          <a:ea typeface="宋体"/>
                        </a:rPr>
                        <a:t>历史 p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245680"/>
                          </a:solidFill>
                          <a:latin typeface="Times New Roman"/>
                          <a:ea typeface="宋体"/>
                        </a:rPr>
                        <a:t>可查询 h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245680"/>
                          </a:solidFill>
                          <a:latin typeface="Times New Roman"/>
                          <a:ea typeface="宋体"/>
                        </a:rPr>
                        <a:t>查询结果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E9F0F5"/>
                    </a:solidFill>
                  </a:tcPr>
                </a:tc>
              </a:tr>
              <a:tr h="635508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41：注册已接受并发布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40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41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q=41，返回 VALID，u=41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5508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42：撤销已接受并发布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40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42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仍取 q=41，返回 REVOKED，u=42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5508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将 41、42 合入本地历史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42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42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继续返回 REVOKED，u=42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Week9 text"/>
          <p:cNvSpPr txBox="1"/>
          <p:nvPr/>
        </p:nvSpPr>
        <p:spPr>
          <a:xfrm>
            <a:off x="786384" y="516636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600" b="1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成功回答使用 u = h ≥ q</a:t>
            </a:r>
          </a:p>
        </p:txBody>
      </p:sp>
      <p:sp>
        <p:nvSpPr>
          <p:cNvPr id="92" name="Week9 text"/>
          <p:cNvSpPr txBox="1"/>
          <p:nvPr/>
        </p:nvSpPr>
        <p:spPr>
          <a:xfrm>
            <a:off x="786384" y="5715000"/>
            <a:ext cx="10698480" cy="74066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q 是最低要求。资料已经看到第 42 条撤销时，不能停在第 41 条的有效状态。合并改变记录的位置，不能改变应有的答案。</a:t>
            </a:r>
          </a:p>
        </p:txBody>
      </p:sp>
      <p:sp>
        <p:nvSpPr>
          <p:cNvPr id="93" name="Briefing Page Number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1" name="Attached process connector"/>
          <p:cNvCxnSpPr>
            <a:stCxn id="11" idx="2"/>
            <a:endCxn id="12" idx="0"/>
          </p:cNvCxnSpPr>
          <p:nvPr/>
        </p:nvCxnSpPr>
        <p:spPr>
          <a:xfrm>
            <a:off x="2139696" y="4270248"/>
            <a:ext cx="0" cy="521208"/>
          </a:xfrm>
          <a:prstGeom prst="line">
            <a:avLst/>
          </a:prstGeom>
          <a:ln w="15240">
            <a:solidFill>
              <a:srgbClr val="245680"/>
            </a:solidFill>
            <a:tailEnd type="triangle"/>
          </a:ln>
        </p:spPr>
      </p:cxnSp>
      <p:cxnSp>
        <p:nvCxnSpPr>
          <p:cNvPr id="20" name="Attached process connector"/>
          <p:cNvCxnSpPr>
            <a:stCxn id="10" idx="2"/>
            <a:endCxn id="11" idx="0"/>
          </p:cNvCxnSpPr>
          <p:nvPr/>
        </p:nvCxnSpPr>
        <p:spPr>
          <a:xfrm>
            <a:off x="2139696" y="3136392"/>
            <a:ext cx="0" cy="521208"/>
          </a:xfrm>
          <a:prstGeom prst="line">
            <a:avLst/>
          </a:prstGeom>
          <a:ln w="15240">
            <a:solidFill>
              <a:srgbClr val="245680"/>
            </a:solidFill>
            <a:tailEnd type="triangle"/>
          </a:ln>
        </p:spPr>
      </p:cxnSp>
      <p:cxnSp>
        <p:nvCxnSpPr>
          <p:cNvPr id="17" name="Attached process connector"/>
          <p:cNvCxnSpPr>
            <a:stCxn id="11" idx="3"/>
            <a:endCxn id="14" idx="1"/>
          </p:cNvCxnSpPr>
          <p:nvPr/>
        </p:nvCxnSpPr>
        <p:spPr>
          <a:xfrm>
            <a:off x="3502152" y="3963924"/>
            <a:ext cx="722376" cy="0"/>
          </a:xfrm>
          <a:prstGeom prst="line">
            <a:avLst/>
          </a:prstGeom>
          <a:ln w="15240">
            <a:solidFill>
              <a:srgbClr val="245680"/>
            </a:solidFill>
            <a:tailEnd type="triangle"/>
          </a:ln>
        </p:spPr>
      </p:cxnSp>
      <p:cxnSp>
        <p:nvCxnSpPr>
          <p:cNvPr id="16" name="Attached process connector"/>
          <p:cNvCxnSpPr>
            <a:stCxn id="10" idx="3"/>
            <a:endCxn id="13" idx="1"/>
          </p:cNvCxnSpPr>
          <p:nvPr/>
        </p:nvCxnSpPr>
        <p:spPr>
          <a:xfrm>
            <a:off x="3502152" y="2830068"/>
            <a:ext cx="722376" cy="0"/>
          </a:xfrm>
          <a:prstGeom prst="line">
            <a:avLst/>
          </a:prstGeom>
          <a:ln w="15240">
            <a:solidFill>
              <a:srgbClr val="A23838"/>
            </a:solidFill>
            <a:tailEnd type="triangle"/>
          </a:ln>
        </p:spPr>
      </p:cxnSp>
      <p:cxnSp>
        <p:nvCxnSpPr>
          <p:cNvPr id="15" name="Attached process connector"/>
          <p:cNvCxnSpPr>
            <a:stCxn id="9" idx="2"/>
            <a:endCxn id="10" idx="0"/>
          </p:cNvCxnSpPr>
          <p:nvPr/>
        </p:nvCxnSpPr>
        <p:spPr>
          <a:xfrm flipH="1">
            <a:off x="2139696" y="1956816"/>
            <a:ext cx="3963924" cy="566928"/>
          </a:xfrm>
          <a:prstGeom prst="bentConnector4">
            <a:avLst>
              <a:gd name="adj1" fmla="val 0"/>
              <a:gd name="adj2" fmla="val 45000"/>
            </a:avLst>
          </a:prstGeom>
          <a:ln w="15240">
            <a:solidFill>
              <a:srgbClr val="245680"/>
            </a:solidFill>
            <a:tailEnd type="triangle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2880"/>
            <a:ext cx="8229600" cy="585216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2800" b="0" lang="zh-CN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查询算法的判断顺序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9" name="Editable process module"/>
          <p:cNvSpPr txBox="1"/>
          <p:nvPr/>
        </p:nvSpPr>
        <p:spPr>
          <a:xfrm>
            <a:off x="777240" y="1362456"/>
            <a:ext cx="10652760" cy="594360"/>
          </a:xfrm>
          <a:prstGeom prst="rect">
            <a:avLst/>
          </a:prstGeom>
          <a:ln w="12700">
            <a:solidFill>
              <a:srgbClr val="245680"/>
            </a:solidFill>
          </a:ln>
          <a:solidFill>
            <a:srgbClr val="E9F2F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300" b="1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先检查输入、固定完整认证视图，并要求 h ≥ q</a:t>
            </a:r>
          </a:p>
        </p:txBody>
      </p:sp>
      <p:sp>
        <p:nvSpPr>
          <p:cNvPr id="10" name="Editable process module"/>
          <p:cNvSpPr txBox="1"/>
          <p:nvPr/>
        </p:nvSpPr>
        <p:spPr>
          <a:xfrm>
            <a:off x="777240" y="2523744"/>
            <a:ext cx="2724912" cy="612648"/>
          </a:xfrm>
          <a:prstGeom prst="rect">
            <a:avLst/>
          </a:prstGeom>
          <a:ln w="12700">
            <a:solidFill>
              <a:srgbClr val="A23838"/>
            </a:solidFill>
          </a:ln>
          <a:solidFill>
            <a:srgbClr val="FCECE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查近期撤销 V</a:t>
            </a:r>
          </a:p>
        </p:txBody>
      </p:sp>
      <p:sp>
        <p:nvSpPr>
          <p:cNvPr id="11" name="Editable process module"/>
          <p:cNvSpPr txBox="1"/>
          <p:nvPr/>
        </p:nvSpPr>
        <p:spPr>
          <a:xfrm>
            <a:off x="777240" y="3657600"/>
            <a:ext cx="2724912" cy="612648"/>
          </a:xfrm>
          <a:prstGeom prst="rect">
            <a:avLst/>
          </a:prstGeom>
          <a:ln w="12700">
            <a:solidFill>
              <a:srgbClr val="A46A25"/>
            </a:solidFill>
          </a:ln>
          <a:solidFill>
            <a:srgbClr val="FFF2DF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查近期注册 U</a:t>
            </a:r>
          </a:p>
        </p:txBody>
      </p:sp>
      <p:sp>
        <p:nvSpPr>
          <p:cNvPr id="12" name="Editable process module"/>
          <p:cNvSpPr txBox="1"/>
          <p:nvPr/>
        </p:nvSpPr>
        <p:spPr>
          <a:xfrm>
            <a:off x="777240" y="4791456"/>
            <a:ext cx="2724912" cy="612648"/>
          </a:xfrm>
          <a:prstGeom prst="rect">
            <a:avLst/>
          </a:prstGeom>
          <a:ln w="12700">
            <a:solidFill>
              <a:srgbClr val="3D7244"/>
            </a:solidFill>
          </a:ln>
          <a:solidFill>
            <a:srgbClr val="ECF4E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验证历史证据</a:t>
            </a:r>
          </a:p>
        </p:txBody>
      </p:sp>
      <p:sp>
        <p:nvSpPr>
          <p:cNvPr id="13" name="Editable process module"/>
          <p:cNvSpPr txBox="1"/>
          <p:nvPr/>
        </p:nvSpPr>
        <p:spPr>
          <a:xfrm>
            <a:off x="4224528" y="2523744"/>
            <a:ext cx="1517904" cy="612648"/>
          </a:xfrm>
          <a:prstGeom prst="rect">
            <a:avLst/>
          </a:prstGeom>
          <a:ln w="12700">
            <a:solidFill>
              <a:srgbClr val="A23838"/>
            </a:solidFill>
          </a:ln>
          <a:solidFill>
            <a:srgbClr val="FCECE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已撤销</a:t>
            </a:r>
          </a:p>
        </p:txBody>
      </p:sp>
      <p:sp>
        <p:nvSpPr>
          <p:cNvPr id="14" name="Editable process module"/>
          <p:cNvSpPr txBox="1"/>
          <p:nvPr/>
        </p:nvSpPr>
        <p:spPr>
          <a:xfrm>
            <a:off x="4224528" y="3657600"/>
            <a:ext cx="1517904" cy="612648"/>
          </a:xfrm>
          <a:prstGeom prst="rect">
            <a:avLst/>
          </a:prstGeom>
          <a:ln w="12700">
            <a:solidFill>
              <a:srgbClr val="245680"/>
            </a:solidFill>
          </a:ln>
          <a:solidFill>
            <a:srgbClr val="E9F2FA"/>
          </a:solidFill>
        </p:spPr>
        <p:txBody>
          <a:bodyPr anchor="ctr" wrap="square" lIns="73152" rIns="73152" tIns="32004" bIns="3200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有效</a:t>
            </a:r>
          </a:p>
        </p:txBody>
      </p:sp>
      <p:sp>
        <p:nvSpPr>
          <p:cNvPr id="18" name="Week9 text"/>
          <p:cNvSpPr txBox="1"/>
          <p:nvPr/>
        </p:nvSpPr>
        <p:spPr>
          <a:xfrm>
            <a:off x="3493008" y="2578608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400" b="0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命中</a:t>
            </a:r>
          </a:p>
        </p:txBody>
      </p:sp>
      <p:sp>
        <p:nvSpPr>
          <p:cNvPr id="19" name="Week9 text"/>
          <p:cNvSpPr txBox="1"/>
          <p:nvPr/>
        </p:nvSpPr>
        <p:spPr>
          <a:xfrm>
            <a:off x="3493008" y="3712464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400" b="0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命中</a:t>
            </a:r>
          </a:p>
        </p:txBody>
      </p:sp>
      <p:sp>
        <p:nvSpPr>
          <p:cNvPr id="22" name="Week9 text"/>
          <p:cNvSpPr txBox="1"/>
          <p:nvPr/>
        </p:nvSpPr>
        <p:spPr>
          <a:xfrm>
            <a:off x="2432304" y="3291840"/>
            <a:ext cx="1234440" cy="26517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6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未命中</a:t>
            </a:r>
          </a:p>
        </p:txBody>
      </p:sp>
      <p:sp>
        <p:nvSpPr>
          <p:cNvPr id="23" name="Week9 text"/>
          <p:cNvSpPr txBox="1"/>
          <p:nvPr/>
        </p:nvSpPr>
        <p:spPr>
          <a:xfrm>
            <a:off x="2432304" y="4425696"/>
            <a:ext cx="1234440" cy="26517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6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未命中</a:t>
            </a:r>
          </a:p>
        </p:txBody>
      </p:sp>
      <p:sp>
        <p:nvSpPr>
          <p:cNvPr id="24" name="Week9 text"/>
          <p:cNvSpPr txBox="1"/>
          <p:nvPr/>
        </p:nvSpPr>
        <p:spPr>
          <a:xfrm>
            <a:off x="6144768" y="2258568"/>
            <a:ext cx="5257800" cy="53035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800" b="1" lang="zh-CN">
                <a:solidFill>
                  <a:srgbClr val="3D7244"/>
                </a:solidFill>
                <a:latin typeface="Times New Roman"/>
                <a:ea typeface="宋体"/>
                <a:cs typeface="宋体"/>
              </a:rPr>
              <a:t>两处均未命中时，历史必须给出有效证明</a:t>
            </a:r>
          </a:p>
        </p:txBody>
      </p:sp>
      <p:graphicFrame>
        <p:nvGraphicFramePr>
          <p:cNvPr id="90" name="Editable evidence table"/>
          <p:cNvGraphicFramePr/>
          <p:nvPr/>
        </p:nvGraphicFramePr>
        <p:xfrm>
          <a:off x="6144768" y="2916936"/>
          <a:ext cx="5257800" cy="2487168"/>
        </p:xfrm>
        <a:graphic>
          <a:graphicData uri="http://schemas.openxmlformats.org/drawingml/2006/main/table">
            <a:tbl>
              <a:tblPr firstRow="1" bandRow="0"/>
              <a:tblGrid>
                <a:gridCol w="3035808"/>
                <a:gridCol w="2221992"/>
              </a:tblGrid>
              <a:tr h="621792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245680"/>
                          </a:solidFill>
                          <a:latin typeface="Times New Roman"/>
                          <a:ea typeface="宋体"/>
                        </a:rPr>
                        <a:t>历史证据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245680"/>
                          </a:solidFill>
                          <a:latin typeface="Times New Roman"/>
                          <a:ea typeface="宋体"/>
                        </a:rPr>
                        <a:t>结果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E9F0F5"/>
                    </a:solidFill>
                  </a:tcPr>
                </a:tc>
              </a:tr>
              <a:tr h="621792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已注册，且未撤销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VALID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已注册，且已撤销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REVOKED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证实未注册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19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NOT_FOUND</a:t>
                      </a:r>
                    </a:p>
                  </a:txBody>
                  <a:tcPr marL="90000" marR="70000" marT="45720" marB="4572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Week9 text"/>
          <p:cNvSpPr txBox="1"/>
          <p:nvPr/>
        </p:nvSpPr>
        <p:spPr>
          <a:xfrm>
            <a:off x="786384" y="5843016"/>
            <a:ext cx="10698480" cy="65836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800" b="0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视图不可用或 h&lt;q：STATE_UNAVAILABLE。事件或证明无效：INVALID。</a:t>
            </a:r>
          </a:p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800" b="0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坏热证据不能回退历史；成员证明失败不能直接当成未注册。</a:t>
            </a:r>
          </a:p>
        </p:txBody>
      </p:sp>
      <p:sp>
        <p:nvSpPr>
          <p:cNvPr id="92" name="Briefing Page Number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2880"/>
            <a:ext cx="8229600" cy="585216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2800" b="0" lang="zh-CN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E13：等待收益与保存成本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9" name="Week9 text"/>
          <p:cNvSpPr txBox="1"/>
          <p:nvPr/>
        </p:nvSpPr>
        <p:spPr>
          <a:xfrm>
            <a:off x="758952" y="1298448"/>
            <a:ext cx="10698480" cy="66751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逐次（Eager）每次维护历史；批量（Batch）成批维护；HotRevoke 还可用完整近期记录满足查询要求。E13 在同一输入轨迹下比较查询完成等待与保存成本。</a:t>
            </a:r>
          </a:p>
        </p:txBody>
      </p:sp>
      <p:graphicFrame>
        <p:nvGraphicFramePr>
          <p:cNvPr id="140" name="Chart 9"/>
          <p:cNvGraphicFramePr>
            <a:graphicFrameLocks noGrp="1"/>
          </p:cNvGraphicFramePr>
          <p:nvPr/>
        </p:nvGraphicFramePr>
        <p:xfrm>
          <a:off x="658368" y="2148840"/>
          <a:ext cx="5276088" cy="32644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41" name="Chart 10"/>
          <p:cNvGraphicFramePr>
            <a:graphicFrameLocks noGrp="1"/>
          </p:cNvGraphicFramePr>
          <p:nvPr/>
        </p:nvGraphicFramePr>
        <p:xfrm>
          <a:off x="6254496" y="2148840"/>
          <a:ext cx="5276088" cy="326440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2" name="Week9 text"/>
          <p:cNvSpPr txBox="1"/>
          <p:nvPr/>
        </p:nvSpPr>
        <p:spPr>
          <a:xfrm>
            <a:off x="777240" y="5541264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此条件下，HotRevoke 的等待更短，但累计逻辑写入比批量方案更多。</a:t>
            </a:r>
          </a:p>
        </p:txBody>
      </p:sp>
      <p:sp>
        <p:nvSpPr>
          <p:cNvPr id="143" name="Week9 text"/>
          <p:cNvSpPr txBox="1"/>
          <p:nvPr/>
        </p:nvSpPr>
        <p:spPr>
          <a:xfrm>
            <a:off x="777240" y="6080760"/>
            <a:ext cx="10698480" cy="5760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55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N=16，16次更新，注册/撤销各半，B=8；3次均值及最小—最大。</a:t>
            </a:r>
          </a:p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55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p95 为 E13 活动时钟；右图为每轮累计逻辑写入，三种策略都允许链确认前服务。</a:t>
            </a:r>
          </a:p>
        </p:txBody>
      </p:sp>
      <p:sp>
        <p:nvSpPr>
          <p:cNvPr id="144" name="Briefing Page Number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2880"/>
            <a:ext cx="8229600" cy="585216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2800" b="0" lang="zh-CN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E16：请求压力与批处理成本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9" name="Week9 text"/>
          <p:cNvSpPr txBox="1"/>
          <p:nvPr/>
        </p:nvSpPr>
        <p:spPr>
          <a:xfrm>
            <a:off x="758952" y="1298448"/>
            <a:ext cx="10698480" cy="66751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用已有 E16 检查请求加快后的表现。固定64个初始身份，一写三查；总输入4、12、24请求/s，窗口10秒。</a:t>
            </a:r>
          </a:p>
        </p:txBody>
      </p:sp>
      <p:graphicFrame>
        <p:nvGraphicFramePr>
          <p:cNvPr id="140" name="Chart 9"/>
          <p:cNvGraphicFramePr>
            <a:graphicFrameLocks noGrp="1"/>
          </p:cNvGraphicFramePr>
          <p:nvPr/>
        </p:nvGraphicFramePr>
        <p:xfrm>
          <a:off x="658368" y="2148840"/>
          <a:ext cx="5276088" cy="32644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41" name="Chart 10"/>
          <p:cNvGraphicFramePr>
            <a:graphicFrameLocks noGrp="1"/>
          </p:cNvGraphicFramePr>
          <p:nvPr/>
        </p:nvGraphicFramePr>
        <p:xfrm>
          <a:off x="6254496" y="2148840"/>
          <a:ext cx="5276088" cy="326440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2" name="Week9 text"/>
          <p:cNvSpPr txBox="1"/>
          <p:nvPr/>
        </p:nvSpPr>
        <p:spPr>
          <a:xfrm>
            <a:off x="777240" y="5522976"/>
            <a:ext cx="10698480" cy="65836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1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24 请求/s：HotRevoke QPS 为 7.27，批量为 7.37；每操作写入约为批量的 4.87 倍。</a:t>
            </a:r>
          </a:p>
        </p:txBody>
      </p:sp>
      <p:sp>
        <p:nvSpPr>
          <p:cNvPr id="143" name="Week9 text"/>
          <p:cNvSpPr txBox="1"/>
          <p:nvPr/>
        </p:nvSpPr>
        <p:spPr>
          <a:xfrm>
            <a:off x="777240" y="6080760"/>
            <a:ext cx="10698480" cy="5760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55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虚线表示输入的查询速率；实际每批 1.29 与 6.22 条，不能将成本差额全归给热区。</a:t>
            </a:r>
          </a:p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55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主测为 HMAC，Ed25519 另做功能检查；没有直接测业务期新撤销身份的查询。</a:t>
            </a:r>
          </a:p>
        </p:txBody>
      </p:sp>
      <p:sp>
        <p:nvSpPr>
          <p:cNvPr id="144" name="Briefing Page Number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94360" y="182880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40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本周学习体会与反思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Week9 text"/>
          <p:cNvSpPr txBox="1"/>
          <p:nvPr/>
        </p:nvSpPr>
        <p:spPr>
          <a:xfrm>
            <a:off x="822960" y="1691640"/>
            <a:ext cx="10561320" cy="129844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这次修改让我把“达到查询要求”和“整体运行更快”分开理解。完整近期状态能够补足尚未维护的历史，但仍需要认证、保存与发布；负载变化后，这些工作可能抵消提前回答带来的收益。</a:t>
            </a:r>
          </a:p>
        </p:txBody>
      </p:sp>
      <p:sp>
        <p:nvSpPr>
          <p:cNvPr id="5" name="Week9 text"/>
          <p:cNvSpPr txBox="1"/>
          <p:nvPr/>
        </p:nvSpPr>
        <p:spPr>
          <a:xfrm>
            <a:off x="822960" y="3246120"/>
            <a:ext cx="10561320" cy="129844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论文、图和算法应该描述同一个过程。查询不能漏掉近期撤销，历史合并不能改变已有判断，旧确认不能删除后来的事件。用一个连续例子核对这些步骤，比只列出模块名称更容易发现问题。</a:t>
            </a:r>
          </a:p>
        </p:txBody>
      </p:sp>
      <p:sp>
        <p:nvSpPr>
          <p:cNvPr id="6" name="Week9 text"/>
          <p:cNvSpPr txBox="1"/>
          <p:nvPr/>
        </p:nvSpPr>
        <p:spPr>
          <a:xfrm>
            <a:off x="822960" y="4800600"/>
            <a:ext cx="10561320" cy="129844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实验解释需要同时保留收益和代价。低压力下跟得上输入，不说明最大能力相同；实际批大小不同，也不能直接把成本归给热区。已有结果帮助明确下一步要控制什么，而非证明所有场景都更快。</a:t>
            </a:r>
          </a:p>
        </p:txBody>
      </p:sp>
      <p:sp>
        <p:nvSpPr>
          <p:cNvPr id="7" name="Briefing Page Number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94360" y="182880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40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下周科研计划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Week9 text"/>
          <p:cNvSpPr txBox="1"/>
          <p:nvPr/>
        </p:nvSpPr>
        <p:spPr>
          <a:xfrm>
            <a:off x="822960" y="1581912"/>
            <a:ext cx="10561320" cy="3931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补上近期撤销的直接查询</a:t>
            </a:r>
          </a:p>
        </p:txBody>
      </p:sp>
      <p:sp>
        <p:nvSpPr>
          <p:cNvPr id="5" name="Week9 text"/>
          <p:cNvSpPr txBox="1"/>
          <p:nvPr/>
        </p:nvSpPr>
        <p:spPr>
          <a:xfrm>
            <a:off x="822960" y="2048256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把历史注册后撤销、同批先注册后撤销和旧确认后的新事件加入目标，按实际回答位置核对结果，记录重试与未完成请求，并检查坏证据不能回退旧历史。</a:t>
            </a:r>
          </a:p>
        </p:txBody>
      </p:sp>
      <p:sp>
        <p:nvSpPr>
          <p:cNvPr id="6" name="Week9 text"/>
          <p:cNvSpPr txBox="1"/>
          <p:nvPr/>
        </p:nvSpPr>
        <p:spPr>
          <a:xfrm>
            <a:off x="822960" y="3063240"/>
            <a:ext cx="10561320" cy="3931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分开解释签名和批次成本</a:t>
            </a:r>
          </a:p>
        </p:txBody>
      </p:sp>
      <p:sp>
        <p:nvSpPr>
          <p:cNvPr id="7" name="Week9 text"/>
          <p:cNvSpPr txBox="1"/>
          <p:nvPr/>
        </p:nvSpPr>
        <p:spPr>
          <a:xfrm>
            <a:off x="822960" y="3529584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使用统一Ed25519授权配置说明签名生成与验证的计时边界；在相同输入和查询要求下安排可匹配的实际批次，比较维护次数、逻辑写量及查询等待。</a:t>
            </a:r>
          </a:p>
        </p:txBody>
      </p:sp>
      <p:sp>
        <p:nvSpPr>
          <p:cNvPr id="8" name="Week9 text"/>
          <p:cNvSpPr txBox="1"/>
          <p:nvPr/>
        </p:nvSpPr>
        <p:spPr>
          <a:xfrm>
            <a:off x="822960" y="4544568"/>
            <a:ext cx="10561320" cy="3931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继续完善论文和实验范围</a:t>
            </a:r>
          </a:p>
        </p:txBody>
      </p:sp>
      <p:sp>
        <p:nvSpPr>
          <p:cNvPr id="9" name="Week9 text"/>
          <p:cNvSpPr txBox="1"/>
          <p:nvPr/>
        </p:nvSpPr>
        <p:spPr>
          <a:xfrm>
            <a:off x="822960" y="5010912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同步中英文、流程图与算法，延长窗口并扩大查询对象；分别记录进程资源、逻辑写量和保留文件。密码学适用性与未取得的证据继续明确标注，避免过度外推。</a:t>
            </a:r>
          </a:p>
        </p:txBody>
      </p:sp>
      <p:sp>
        <p:nvSpPr>
          <p:cNvPr id="10" name="Briefing Page Number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11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3" descr="e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175" y="2941110"/>
            <a:ext cx="1009651" cy="230504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1595755" y="253154"/>
            <a:ext cx="10363200" cy="196003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000000"/>
                </a:solidFill>
                <a:latin typeface="Microsoft YaHei"/>
                <a:ea typeface="Microsoft YaHei"/>
              </a:rPr>
              <a:t>谢谢，敬请批评指正！</a:t>
            </a:r>
          </a:p>
        </p:txBody>
      </p:sp>
      <p:sp>
        <p:nvSpPr>
          <p:cNvPr id="7" name="Briefing Page Number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12</a:t>
            </a:r>
          </a:p>
        </p:txBody>
      </p:sp>
    </p:spTree>
  </p:cSld>
  <p:clrMapOvr>
    <a:masterClrMapping/>
  </p:clrMapOvr>
</p:sld>
</file>

<file path=ppt/tags/tag4.xml><?xml version="1.0" encoding="utf-8"?>
<p:tagLst xmlns:p="http://schemas.openxmlformats.org/presentationml/2006/main">
  <p:tag name="COMMONDATA" val="eyJoZGlkIjoiMGYzOGJjZTRlMmYzYjYwOWRiMGFmYzhlYTUxZmM1NzUifQ=="/>
  <p:tag name="RESOURCE_RECORD_KEY" val="{&quot;70&quot;:[3314408,3312407]}"/>
</p:tagLst>
</file>

<file path=ppt/theme/theme1.xml><?xml version="1.0" encoding="utf-8"?>
<a:theme xmlns:a="http://schemas.openxmlformats.org/drawingml/2006/main" name="主题1">
  <a:themeElements>
    <a:clrScheme name="自定义 1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6362"/>
      </a:accent1>
      <a:accent2>
        <a:srgbClr val="B64645"/>
      </a:accent2>
      <a:accent3>
        <a:srgbClr val="414A59"/>
      </a:accent3>
      <a:accent4>
        <a:srgbClr val="7FB541"/>
      </a:accent4>
      <a:accent5>
        <a:srgbClr val="4472C4"/>
      </a:accent5>
      <a:accent6>
        <a:srgbClr val="244956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5875">
          <a:solidFill>
            <a:srgbClr val="FF0000"/>
          </a:solidFill>
          <a:prstDash val="sysDash"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square" rtlCol="0">
        <a:spAutoFit/>
      </a:bodyPr>
      <a:lstStyle>
        <a:defPPr algn="ctr">
          <a:defRPr sz="17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2037</Words>
  <Application>WPS 演示</Application>
  <PresentationFormat>宽屏</PresentationFormat>
  <Paragraphs>173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Tw Cen MT</vt:lpstr>
      <vt:lpstr>微软雅黑</vt:lpstr>
      <vt:lpstr>Times New Roman</vt:lpstr>
      <vt:lpstr>Times New Roman</vt:lpstr>
      <vt:lpstr>Arial Unicode MS</vt:lpstr>
      <vt:lpstr>Calibri Light</vt:lpstr>
      <vt:lpstr>Segoe Print</vt:lpstr>
      <vt:lpstr>主题1</vt:lpstr>
      <vt:lpstr>自定义设计方案</vt:lpstr>
      <vt:lpstr>PowerPoint 演示文稿</vt:lpstr>
      <vt:lpstr>PowerPoint 演示文稿</vt:lpstr>
      <vt:lpstr>E13：三种维护策略的公平对照</vt:lpstr>
      <vt:lpstr>研究进展：E13–E15 实验</vt:lpstr>
      <vt:lpstr>研究进展：E13–E15 实验</vt:lpstr>
      <vt:lpstr>研究进展：E13–E15 实验</vt:lpstr>
      <vt:lpstr>研究进展：E13–E15 实验</vt:lpstr>
      <vt:lpstr>研究进展：E13–E15 实验</vt:lpstr>
      <vt:lpstr>研究进展：E13–E15 实验</vt:lpstr>
      <vt:lpstr>三组实验的完成情况与结论边界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北冥有鱼</cp:lastModifiedBy>
  <cp:revision>2940</cp:revision>
  <cp:lastPrinted>2024-11-14T07:01:00Z</cp:lastPrinted>
  <dcterms:created xsi:type="dcterms:W3CDTF">2024-11-14T07:01:00Z</dcterms:created>
  <dcterms:modified xsi:type="dcterms:W3CDTF">2026-10-21T11:27:28Z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2052-12.1.0.29158</vt:lpwstr>
  </property>
  <property fmtid="{D5CDD505-2E9C-101B-9397-08002B2CF9AE}" pid="3" name="ICV">
    <vt:lpwstr>23CA4145CDCB412F9DC2DE25ABA641B5_13</vt:lpwstr>
  </property>
</Properties>
</file>