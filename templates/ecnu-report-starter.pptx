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slides/reportSlide1.xml" ContentType="application/vnd.openxmlformats-officedocument.presentationml.slide+xml"/>
  <Override PartName="/ppt/notesSlides/reportNotes1.xml" ContentType="application/vnd.openxmlformats-officedocument.presentationml.notesSlide+xml"/>
  <Override PartName="/ppt/slides/reportSlide2.xml" ContentType="application/vnd.openxmlformats-officedocument.presentationml.slide+xml"/>
  <Override PartName="/ppt/notesSlides/reportNotes2.xml" ContentType="application/vnd.openxmlformats-officedocument.presentationml.notesSlide+xml"/>
  <Override PartName="/ppt/slides/reportSlide3.xml" ContentType="application/vnd.openxmlformats-officedocument.presentationml.slide+xml"/>
  <Override PartName="/ppt/notesSlides/reportNotes3.xml" ContentType="application/vnd.openxmlformats-officedocument.presentationml.notesSlide+xml"/>
  <Override PartName="/ppt/slides/reportSlide4.xml" ContentType="application/vnd.openxmlformats-officedocument.presentationml.slide+xml"/>
  <Override PartName="/ppt/notesSlides/reportNotes4.xml" ContentType="application/vnd.openxmlformats-officedocument.presentationml.notesSlide+xml"/>
  <Override PartName="/ppt/slides/reportSlide5.xml" ContentType="application/vnd.openxmlformats-officedocument.presentationml.slide+xml"/>
  <Override PartName="/ppt/notesSlides/reportNotes5.xml" ContentType="application/vnd.openxmlformats-officedocument.presentationml.notesSlide+xml"/>
  <Override PartName="/ppt/slides/reportSlide6.xml" ContentType="application/vnd.openxmlformats-officedocument.presentationml.slide+xml"/>
  <Override PartName="/ppt/notesSlides/reportNotes6.xml" ContentType="application/vnd.openxmlformats-officedocument.presentationml.notesSlide+xml"/>
  <Override PartName="/ppt/slides/reportSlide7.xml" ContentType="application/vnd.openxmlformats-officedocument.presentationml.slide+xml"/>
  <Override PartName="/ppt/notesSlides/reportNotes7.xml" ContentType="application/vnd.openxmlformats-officedocument.presentationml.notesSlide+xml"/>
  <Override PartName="/ppt/charts/chart1007.xml" ContentType="application/vnd.openxmlformats-officedocument.drawingml.chart+xml"/>
  <Override PartName="/ppt/slides/reportSlide8.xml" ContentType="application/vnd.openxmlformats-officedocument.presentationml.slide+xml"/>
  <Override PartName="/ppt/notesSlides/reportNotes8.xml" ContentType="application/vnd.openxmlformats-officedocument.presentationml.notesSlide+xml"/>
  <Override PartName="/ppt/slides/reportSlide9.xml" ContentType="application/vnd.openxmlformats-officedocument.presentationml.slide+xml"/>
  <Override PartName="/ppt/notesSlides/reportNotes9.xml" ContentType="application/vnd.openxmlformats-officedocument.presentationml.notesSlide+xml"/>
  <Override PartName="/ppt/slides/reportSlide10.xml" ContentType="application/vnd.openxmlformats-officedocument.presentationml.slide+xml"/>
  <Override PartName="/ppt/notesSlides/reportNotes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78" r:id="rId3"/>
  </p:sldMasterIdLst>
  <p:notesMasterIdLst>
    <p:notesMasterId r:id="rId5"/>
  </p:notesMasterIdLst>
  <p:handoutMasterIdLst>
    <p:handoutMasterId r:id="rId18"/>
  </p:handoutMasterIdLst>
  <p:sldIdLst>
    <p:sldId id="256" r:id="rIdReport1"/>
    <p:sldId id="257" r:id="rIdReport2"/>
    <p:sldId id="258" r:id="rIdReport3"/>
    <p:sldId id="259" r:id="rIdReport4"/>
    <p:sldId id="260" r:id="rIdReport5"/>
    <p:sldId id="261" r:id="rIdReport6"/>
    <p:sldId id="262" r:id="rIdReport7"/>
    <p:sldId id="263" r:id="rIdReport8"/>
    <p:sldId id="264" r:id="rIdReport9"/>
    <p:sldId id="265" r:id="rIdReport10"/>
  </p:sldIdLst>
  <p:sldSz cx="12192000" cy="6858000"/>
  <p:notesSz cx="6797675" cy="9928225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90" userDrawn="1">
          <p15:clr>
            <a:srgbClr val="A4A3A4"/>
          </p15:clr>
        </p15:guide>
        <p15:guide id="2" orient="horz" pos="22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xy" initials="w" lastIdx="4" clrIdx="0"/>
  <p:cmAuthor id="1" name="Juli May" initials="JM" lastIdx="10" clrIdx="0"/>
  <p:cmAuthor id="2" name="Georgi Meyer" initials="GM" lastIdx="10" clrIdx="1"/>
  <p:cmAuthor id="3" name="Alan Deeth" initials="AD" lastIdx="74" clrIdx="2"/>
  <p:cmAuthor id="4" name="David Jeppesen" initials="DJ" lastIdx="83" clrIdx="3"/>
  <p:cmAuthor id="5" name="John Karwoski" initials="JK" lastIdx="50" clrIdx="4"/>
  <p:cmAuthor id="6" name="zhao" initials="" lastIdx="10" clrIdx="5"/>
  <p:cmAuthor id="7" name="Joe Staples" initials="JS" lastIdx="3" clrIdx="6"/>
  <p:cmAuthor id="8" name="Simon Johnson" initials="SJ" lastIdx="6" clrIdx="7"/>
  <p:cmAuthor id="10" name="jinch" initials="j" lastIdx="1" clrIdx="9"/>
  <p:cmAuthor id="11" name="Microsoft Office User" initials="MOU" lastIdx="1" clrIdx="10"/>
  <p:cmAuthor id="12" name="tanghaibo" initials="t" lastIdx="1" clrIdx="1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F4BBBB"/>
    <a:srgbClr val="818181"/>
    <a:srgbClr val="A36B44"/>
    <a:srgbClr val="5882AA"/>
    <a:srgbClr val="71905D"/>
    <a:srgbClr val="7FB541"/>
    <a:srgbClr val="8FAADC"/>
    <a:srgbClr val="DC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6525" autoAdjust="0"/>
  </p:normalViewPr>
  <p:slideViewPr>
    <p:cSldViewPr showGuides="1">
      <p:cViewPr varScale="1">
        <p:scale>
          <a:sx n="111" d="100"/>
          <a:sy n="111" d="100"/>
        </p:scale>
        <p:origin x="114" y="198"/>
      </p:cViewPr>
      <p:guideLst>
        <p:guide pos="4090"/>
        <p:guide orient="horz" pos="2270"/>
      </p:guideLst>
    </p:cSldViewPr>
  </p:slideViewPr>
  <p:outlineViewPr>
    <p:cViewPr>
      <p:scale>
        <a:sx n="33" d="100"/>
        <a:sy n="33" d="100"/>
      </p:scale>
      <p:origin x="0" y="-15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5" d="100"/>
        <a:sy n="45" d="100"/>
      </p:scale>
      <p:origin x="0" y="0"/>
    </p:cViewPr>
  </p:sorterViewPr>
  <p:gridSpacing cx="90001" cy="9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commentAuthors" Target="commentAuthors.xml"/><Relationship Id="rId23" Type="http://schemas.openxmlformats.org/officeDocument/2006/relationships/tags" Target="tags/tag4.xml"/><Relationship Id="rIdReport1" Type="http://schemas.openxmlformats.org/officeDocument/2006/relationships/slide" Target="slides/reportSlide1.xml"/><Relationship Id="rIdReport2" Type="http://schemas.openxmlformats.org/officeDocument/2006/relationships/slide" Target="slides/reportSlide2.xml"/><Relationship Id="rIdReport3" Type="http://schemas.openxmlformats.org/officeDocument/2006/relationships/slide" Target="slides/reportSlide3.xml"/><Relationship Id="rIdReport4" Type="http://schemas.openxmlformats.org/officeDocument/2006/relationships/slide" Target="slides/reportSlide4.xml"/><Relationship Id="rIdReport5" Type="http://schemas.openxmlformats.org/officeDocument/2006/relationships/slide" Target="slides/reportSlide5.xml"/><Relationship Id="rIdReport6" Type="http://schemas.openxmlformats.org/officeDocument/2006/relationships/slide" Target="slides/reportSlide6.xml"/><Relationship Id="rIdReport7" Type="http://schemas.openxmlformats.org/officeDocument/2006/relationships/slide" Target="slides/reportSlide7.xml"/><Relationship Id="rIdReport8" Type="http://schemas.openxmlformats.org/officeDocument/2006/relationships/slide" Target="slides/reportSlide8.xml"/><Relationship Id="rIdReport9" Type="http://schemas.openxmlformats.org/officeDocument/2006/relationships/slide" Target="slides/reportSlide9.xml"/><Relationship Id="rIdReport10" Type="http://schemas.openxmlformats.org/officeDocument/2006/relationships/slide" Target="slides/reportSlide10.xml"/></Relationships>
</file>

<file path=ppt/charts/_rels/chart100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ombined_chart1007.xlsx"/></Relationships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title>
      <c:tx>
        <c:rich>
          <a:bodyPr/>
          <a:lstStyle/>
          <a:p>
            <a:r>
              <a:rPr sz="1700">
                <a:solidFill>
                  <a:srgbClr val="000000"/>
                </a:solidFill>
                <a:latin typeface="Times New Roman"/>
                <a:ea typeface="宋体"/>
              </a:rPr>
              <a:t>示例：不同条件下的指标值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方案 A（示例）</c:v>
                </c:pt>
              </c:strCache>
            </c:strRef>
          </c:tx>
          <c:spPr>
            <a:solidFill>
              <a:srgbClr val="245680"/>
            </a:solidFill>
            <a:ln>
              <a:noFill/>
            </a:ln>
          </c:spPr>
          <c:cat>
            <c:strRef>
              <c:f>Data!$A$2:$A$4</c:f>
              <c:strCache>
                <c:ptCount val="3"/>
                <c:pt idx="0">
                  <c:v>条件 1</c:v>
                </c:pt>
                <c:pt idx="1">
                  <c:v>条件 2</c:v>
                </c:pt>
                <c:pt idx="2">
                  <c:v>条件 3</c:v>
                </c:pt>
              </c:strCache>
            </c:strRef>
          </c:cat>
          <c:val>
            <c:numRef>
              <c:f>Data!$B$2:$B$4</c:f>
              <c:numCache>
                <c:formatCode>0.00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方案 B（示例）</c:v>
                </c:pt>
              </c:strCache>
            </c:strRef>
          </c:tx>
          <c:spPr>
            <a:solidFill>
              <a:srgbClr val="009E73"/>
            </a:solidFill>
            <a:ln>
              <a:noFill/>
            </a:ln>
          </c:spPr>
          <c:cat>
            <c:strRef>
              <c:f>Data!$A$2:$A$4</c:f>
              <c:strCache>
                <c:ptCount val="3"/>
                <c:pt idx="0">
                  <c:v>条件 1</c:v>
                </c:pt>
                <c:pt idx="1">
                  <c:v>条件 2</c:v>
                </c:pt>
                <c:pt idx="2">
                  <c:v>条件 3</c:v>
                </c:pt>
              </c:strCache>
            </c:strRef>
          </c:cat>
          <c:val>
            <c:numRef>
              <c:f>Data!$C$2:$C$4</c:f>
              <c:numCache>
                <c:formatCode>0.00</c:formatCode>
                <c:ptCount val="3"/>
                <c:pt idx="0">
                  <c:v>8</c:v>
                </c:pt>
                <c:pt idx="1">
                  <c:v>15</c:v>
                </c:pt>
                <c:pt idx="2">
                  <c:v>17</c:v>
                </c:pt>
              </c:numCache>
            </c:numRef>
          </c:val>
        </c:ser>
        <c:gapWidth val="120"/>
        <c:overlap val="0"/>
        <c:axId val="100"/>
        <c:axId val="200"/>
      </c:barChart>
      <c:catAx>
        <c:axId val="1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solidFill>
                      <a:srgbClr val="000000"/>
                    </a:solidFill>
                    <a:latin typeface="Times New Roman"/>
                    <a:ea typeface="宋体"/>
                  </a:rPr>
                  <a:t>实验条件（示例）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Times New Roman"/>
                <a:ea typeface="宋体"/>
              </a:defRPr>
            </a:pPr>
            <a:endParaRPr lang="zh-CN"/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DEDE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>
                    <a:solidFill>
                      <a:srgbClr val="000000"/>
                    </a:solidFill>
                    <a:latin typeface="Times New Roman"/>
                    <a:ea typeface="宋体"/>
                  </a:rPr>
                  <a:t>指标值（示例单位）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Times New Roman"/>
                <a:ea typeface="宋体"/>
              </a:defRPr>
            </a:pPr>
            <a:endParaRPr lang="zh-CN"/>
          </a:p>
        </c:txPr>
        <c:crossAx val="100"/>
        <c:crosses val="autoZero"/>
        <c:crossBetween val="between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000000"/>
              </a:solidFill>
              <a:latin typeface="Times New Roman"/>
              <a:ea typeface="宋体"/>
            </a:defRPr>
          </a:pPr>
          <a:endParaRPr lang="zh-CN"/>
        </a:p>
      </c:txPr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265B4-CD0D-4543-8E9E-6FB20443F5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1394" y="1241425"/>
            <a:ext cx="5954889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7B04E-F35F-411E-907F-A64B4026CB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reportNotes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1.xml"/></Relationships>
</file>

<file path=ppt/notesSlides/_rels/reportNotes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2.xml"/></Relationships>
</file>

<file path=ppt/notesSlides/_rels/reportNotes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3.xml"/></Relationships>
</file>

<file path=ppt/notesSlides/_rels/reportNotes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4.xml"/></Relationships>
</file>

<file path=ppt/notesSlides/_rels/reportNotes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5.xml"/></Relationships>
</file>

<file path=ppt/notesSlides/_rels/reportNotes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6.xml"/></Relationships>
</file>

<file path=ppt/notesSlides/_rels/reportNotes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7.xml"/></Relationships>
</file>

<file path=ppt/notesSlides/_rels/reportNotes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8.xml"/></Relationships>
</file>

<file path=ppt/notesSlides/_rels/reportNotes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9.xml"/></Relationships>
</file>

<file path=ppt/notesSlides/_rels/reportNotes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reportSlide10.xml"/></Relationships>
</file>

<file path=ppt/notesSlides/reportNotes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先用一句话介绍研究课题和本周要解决的问题。下面使用资格状态查询作为结构示例；请替换为自己的研究内容。示例图表中的数值仅用于演示排版。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目标按时间尺度区分，不要求本周一次完成。短期讲已经落实的动作，中长期说明如何取得证据，长期连接到论文。把计划中的实验与已经完成的结果区分开。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这一页是问题引入的文字结构示例。替换内容时先交代场景和对象，再用一个连续事件说明困难，避免一开始堆砌缩写。不得直接把此处例子当作自己的实测结果。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正式使用时把工作 A/B换成真实论文，并在备注中写作者、年份和可访问来源。不要把机制比较写成未经执行的系统性能排名。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这是原生形状和粘连连接线的布局示例。移动模块后检查连线是否跟随。不要将同一行的三个模块理解成已经实现了并行执行；实际并发边界应根据代码说明。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示例算法不是已证明安全的协议。正式内容以研究论文和实现为准。可以在备注中加入逐行中文解释和一个具体输入的执行过程；较长算法应拆页，不要缩到难以阅读。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图表是可编辑的原生柱状图，附带嵌入XLSX。这里所有数值仅为排版示例，不说明任何方法优劣。使用真实数据时应填写来源并保留负面结果；重复实验的误差范围必须根据原始记录计算。</a:t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/>
            </a:r>
          </a:p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来源：本文件手工构造的排版示例；请替换为已审核实验数据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反思页保留连贯文字，不必每句话都做成项目符号。正式汇报应改成自己本周的真实认识，并说明它如何改变下一步研究安排。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计划应能对应可检查的产物，而不只写继续学习、继续优化。这里提供表述结构，执行范围和完成时间应根据真实研究进度填写。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reportNotes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1200"/>
              </a:spcAft>
            </a:pPr>
            <a:r>
              <a:rPr sz="14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结束后接受讨论。若被问到示例图表，请明确它仅演示版式，尚未填写真实实验结果。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" y="-12947"/>
            <a:ext cx="5446133" cy="6870947"/>
          </a:xfrm>
          <a:custGeom>
            <a:avLst/>
            <a:gdLst>
              <a:gd name="connsiteX0" fmla="*/ 0 w 5446133"/>
              <a:gd name="connsiteY0" fmla="*/ 0 h 6870947"/>
              <a:gd name="connsiteX1" fmla="*/ 5446133 w 5446133"/>
              <a:gd name="connsiteY1" fmla="*/ 0 h 6870947"/>
              <a:gd name="connsiteX2" fmla="*/ 5446133 w 5446133"/>
              <a:gd name="connsiteY2" fmla="*/ 6870947 h 6870947"/>
              <a:gd name="connsiteX3" fmla="*/ 0 w 5446133"/>
              <a:gd name="connsiteY3" fmla="*/ 6870947 h 687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6133" h="6870947">
                <a:moveTo>
                  <a:pt x="0" y="0"/>
                </a:moveTo>
                <a:lnTo>
                  <a:pt x="5446133" y="0"/>
                </a:lnTo>
                <a:lnTo>
                  <a:pt x="5446133" y="6870947"/>
                </a:lnTo>
                <a:lnTo>
                  <a:pt x="0" y="687094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717074"/>
          </a:xfrm>
          <a:custGeom>
            <a:avLst/>
            <a:gdLst>
              <a:gd name="connsiteX0" fmla="*/ 0 w 12192000"/>
              <a:gd name="connsiteY0" fmla="*/ 0 h 2717074"/>
              <a:gd name="connsiteX1" fmla="*/ 12192000 w 12192000"/>
              <a:gd name="connsiteY1" fmla="*/ 0 h 2717074"/>
              <a:gd name="connsiteX2" fmla="*/ 12192000 w 12192000"/>
              <a:gd name="connsiteY2" fmla="*/ 2717074 h 2717074"/>
              <a:gd name="connsiteX3" fmla="*/ 0 w 12192000"/>
              <a:gd name="connsiteY3" fmla="*/ 2717074 h 2717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717074">
                <a:moveTo>
                  <a:pt x="0" y="0"/>
                </a:moveTo>
                <a:lnTo>
                  <a:pt x="12192000" y="0"/>
                </a:lnTo>
                <a:lnTo>
                  <a:pt x="12192000" y="2717074"/>
                </a:lnTo>
                <a:lnTo>
                  <a:pt x="0" y="27170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697951" y="0"/>
            <a:ext cx="3494049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94892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740435" y="0"/>
            <a:ext cx="5451567" cy="6858000"/>
          </a:xfrm>
          <a:custGeom>
            <a:avLst/>
            <a:gdLst>
              <a:gd name="connsiteX0" fmla="*/ 0 w 5451566"/>
              <a:gd name="connsiteY0" fmla="*/ 0 h 6858000"/>
              <a:gd name="connsiteX1" fmla="*/ 5451566 w 5451566"/>
              <a:gd name="connsiteY1" fmla="*/ 0 h 6858000"/>
              <a:gd name="connsiteX2" fmla="*/ 5451566 w 5451566"/>
              <a:gd name="connsiteY2" fmla="*/ 6858000 h 6858000"/>
              <a:gd name="connsiteX3" fmla="*/ 0 w 54515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566" h="6858000">
                <a:moveTo>
                  <a:pt x="0" y="0"/>
                </a:moveTo>
                <a:lnTo>
                  <a:pt x="5451566" y="0"/>
                </a:lnTo>
                <a:lnTo>
                  <a:pt x="54515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2"/>
            <a:ext cx="12192000" cy="6047117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0" cy="2486722"/>
          </a:xfrm>
          <a:custGeom>
            <a:avLst/>
            <a:gdLst>
              <a:gd name="connsiteX0" fmla="*/ 0 w 12192000"/>
              <a:gd name="connsiteY0" fmla="*/ 0 h 2486722"/>
              <a:gd name="connsiteX1" fmla="*/ 12192000 w 12192000"/>
              <a:gd name="connsiteY1" fmla="*/ 0 h 2486722"/>
              <a:gd name="connsiteX2" fmla="*/ 12192000 w 12192000"/>
              <a:gd name="connsiteY2" fmla="*/ 2486722 h 2486722"/>
              <a:gd name="connsiteX3" fmla="*/ 0 w 12192000"/>
              <a:gd name="connsiteY3" fmla="*/ 2486722 h 248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486722">
                <a:moveTo>
                  <a:pt x="0" y="0"/>
                </a:moveTo>
                <a:lnTo>
                  <a:pt x="12192000" y="0"/>
                </a:lnTo>
                <a:lnTo>
                  <a:pt x="12192000" y="2486722"/>
                </a:lnTo>
                <a:lnTo>
                  <a:pt x="0" y="248672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176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图片占位符 9"/>
          <p:cNvSpPr>
            <a:spLocks noGrp="1"/>
          </p:cNvSpPr>
          <p:nvPr>
            <p:ph type="pic" sz="quarter" idx="11"/>
          </p:nvPr>
        </p:nvSpPr>
        <p:spPr>
          <a:xfrm>
            <a:off x="4831275" y="1344821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5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3449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16227" y="2773142"/>
            <a:ext cx="4972049" cy="2952750"/>
          </a:xfrm>
          <a:custGeom>
            <a:avLst/>
            <a:gdLst>
              <a:gd name="connsiteX0" fmla="*/ 0 w 4972049"/>
              <a:gd name="connsiteY0" fmla="*/ 0 h 2952750"/>
              <a:gd name="connsiteX1" fmla="*/ 4972049 w 4972049"/>
              <a:gd name="connsiteY1" fmla="*/ 0 h 2952750"/>
              <a:gd name="connsiteX2" fmla="*/ 4972049 w 4972049"/>
              <a:gd name="connsiteY2" fmla="*/ 2952750 h 2952750"/>
              <a:gd name="connsiteX3" fmla="*/ 0 w 4972049"/>
              <a:gd name="connsiteY3" fmla="*/ 295275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2049" h="2952750">
                <a:moveTo>
                  <a:pt x="0" y="0"/>
                </a:moveTo>
                <a:lnTo>
                  <a:pt x="4972049" y="0"/>
                </a:lnTo>
                <a:lnTo>
                  <a:pt x="4972049" y="2952750"/>
                </a:lnTo>
                <a:lnTo>
                  <a:pt x="0" y="29527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5829300" y="1159833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4962525" y="2955295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5829300" y="4750758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0"/>
          </p:nvPr>
        </p:nvSpPr>
        <p:spPr>
          <a:xfrm>
            <a:off x="800100" y="1562099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6391273" y="1562098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2"/>
          </p:nvPr>
        </p:nvSpPr>
        <p:spPr>
          <a:xfrm>
            <a:off x="800099" y="3990806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391272" y="3990805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93345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1"/>
          </p:nvPr>
        </p:nvSpPr>
        <p:spPr>
          <a:xfrm>
            <a:off x="303133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2"/>
          </p:nvPr>
        </p:nvSpPr>
        <p:spPr>
          <a:xfrm>
            <a:off x="512921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7227093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4"/>
          </p:nvPr>
        </p:nvSpPr>
        <p:spPr>
          <a:xfrm>
            <a:off x="9324975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8353425" y="1152525"/>
            <a:ext cx="2638425" cy="2419350"/>
          </a:xfrm>
          <a:custGeom>
            <a:avLst/>
            <a:gdLst>
              <a:gd name="connsiteX0" fmla="*/ 2638425 w 2638425"/>
              <a:gd name="connsiteY0" fmla="*/ 0 h 2419350"/>
              <a:gd name="connsiteX1" fmla="*/ 2486025 w 2638425"/>
              <a:gd name="connsiteY1" fmla="*/ 2228850 h 2419350"/>
              <a:gd name="connsiteX2" fmla="*/ 0 w 2638425"/>
              <a:gd name="connsiteY2" fmla="*/ 2419350 h 2419350"/>
              <a:gd name="connsiteX3" fmla="*/ 171450 w 2638425"/>
              <a:gd name="connsiteY3" fmla="*/ 695325 h 241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8425" h="2419350">
                <a:moveTo>
                  <a:pt x="2638425" y="0"/>
                </a:moveTo>
                <a:lnTo>
                  <a:pt x="2486025" y="2228850"/>
                </a:lnTo>
                <a:lnTo>
                  <a:pt x="0" y="2419350"/>
                </a:lnTo>
                <a:lnTo>
                  <a:pt x="171450" y="6953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590551" y="1437117"/>
            <a:ext cx="5505451" cy="3392058"/>
          </a:xfrm>
          <a:custGeom>
            <a:avLst/>
            <a:gdLst>
              <a:gd name="connsiteX0" fmla="*/ 0 w 5505450"/>
              <a:gd name="connsiteY0" fmla="*/ 0 h 3392058"/>
              <a:gd name="connsiteX1" fmla="*/ 5505450 w 5505450"/>
              <a:gd name="connsiteY1" fmla="*/ 0 h 3392058"/>
              <a:gd name="connsiteX2" fmla="*/ 5505450 w 5505450"/>
              <a:gd name="connsiteY2" fmla="*/ 3392058 h 3392058"/>
              <a:gd name="connsiteX3" fmla="*/ 0 w 5505450"/>
              <a:gd name="connsiteY3" fmla="*/ 3392058 h 3392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5450" h="3392058">
                <a:moveTo>
                  <a:pt x="0" y="0"/>
                </a:moveTo>
                <a:lnTo>
                  <a:pt x="5505450" y="0"/>
                </a:lnTo>
                <a:lnTo>
                  <a:pt x="5505450" y="3392058"/>
                </a:lnTo>
                <a:lnTo>
                  <a:pt x="0" y="33920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P2P网络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CCF@U第1244场，西北大学，2025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8048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1017588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965593-6650-4D71-86DF-9257E339D58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charset="0"/>
                <a:ea typeface="宋体" panose="02010600030101010101" pitchFamily="2" charset="-122"/>
                <a:cs typeface="+mn-cs"/>
                <a:sym typeface="Tw Cen MT" panose="020B0602020104020603" charset="0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Tw Cen MT" panose="020B06020201040206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report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reportNotes1.xml"/></Relationships>
</file>

<file path=ppt/slides/_rels/report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reportNotes2.xml"/></Relationships>
</file>

<file path=ppt/slides/_rels/report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reportNotes3.xml"/></Relationships>
</file>

<file path=ppt/slides/_rels/report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reportNotes4.xml"/></Relationships>
</file>

<file path=ppt/slides/_rels/report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reportNotes5.xml"/></Relationships>
</file>

<file path=ppt/slides/_rels/report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reportNotes6.xml"/></Relationships>
</file>

<file path=ppt/slides/_rels/report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notesSlide" Target="../notesSlides/reportNotes7.xml"/><Relationship Id="rIdE16Chart1007" Type="http://schemas.openxmlformats.org/officeDocument/2006/relationships/chart" Target="../charts/chart1007.xml"/></Relationships>
</file>

<file path=ppt/slides/_rels/report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reportNotes8.xml"/></Relationships>
</file>

<file path=ppt/slides/_rels/report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reportNotes9.xml"/></Relationships>
</file>

<file path=ppt/slides/_rels/report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jpeg"/><Relationship Id="rId3" Type="http://schemas.openxmlformats.org/officeDocument/2006/relationships/notesSlide" Target="../notesSlides/reportNotes10.xml"/></Relationships>
</file>

<file path=ppt/slides/report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542032" y="3538728"/>
            <a:ext cx="786384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75000"/>
                    <a:alpha val="5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2200"/>
              </a:spcAft>
            </a:pPr>
            <a:r>
              <a:rPr sz="32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 X 周进展汇报</a:t>
            </a:r>
          </a:p>
          <a:p>
            <a:pPr algn="ctr" marL="0" indent="0">
              <a:buNone/>
              <a:lnSpc>
                <a:spcPct val="115000"/>
              </a:lnSpc>
              <a:spcAft>
                <a:spcPts val="2200"/>
              </a:spcAft>
            </a:pPr>
            <a:r>
              <a:rPr sz="32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研究课题名称</a:t>
            </a:r>
          </a:p>
          <a:p>
            <a:pPr algn="ctr" marL="0" indent="0">
              <a:buNone/>
              <a:lnSpc>
                <a:spcPct val="115000"/>
              </a:lnSpc>
              <a:spcAft>
                <a:spcPts val="2200"/>
              </a:spcAft>
            </a:pPr>
            <a:r>
              <a:rPr sz="32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汇报人姓名  YYYY.MM.DD</a:t>
            </a:r>
          </a:p>
        </p:txBody>
      </p:sp>
      <p:pic>
        <p:nvPicPr>
          <p:cNvPr id="2" name="图片 1" descr="d841307fae2bdba3e4eb4ccc9ba62a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432165" cy="2451100"/>
          </a:xfrm>
          <a:prstGeom prst="rect">
            <a:avLst/>
          </a:prstGeom>
        </p:spPr>
      </p:pic>
      <p:pic>
        <p:nvPicPr>
          <p:cNvPr id="3" name="图片 2" descr="15859698dea59d9263aee9ba8c17c59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985" y="368935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report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94360" y="182880"/>
            <a:ext cx="10972800" cy="694944"/>
          </a:xfrm>
          <a:prstGeom prst="rect">
            <a:avLst/>
          </a:prstGeom>
          <a:noFill/>
        </p:spPr>
        <p:txBody>
          <a:bodyPr wrap="square" rtlCol="0" anchor="t" lIns="0" rIns="0" tIns="0" bIns="0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40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主要任务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ditable report text"/>
          <p:cNvSpPr txBox="1"/>
          <p:nvPr/>
        </p:nvSpPr>
        <p:spPr>
          <a:xfrm>
            <a:off x="822960" y="1581912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短期目标：把本周问题讲清楚</a:t>
            </a:r>
          </a:p>
        </p:txBody>
      </p:sp>
      <p:sp>
        <p:nvSpPr>
          <p:cNvPr id="10" name="Editable report text"/>
          <p:cNvSpPr txBox="1"/>
          <p:nvPr/>
        </p:nvSpPr>
        <p:spPr>
          <a:xfrm>
            <a:off x="822960" y="2048256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说明应用在什么情况下遇到困难，用一个具体例子解释它为什么影响系统，并明确本周准备解决的范围。</a:t>
            </a:r>
          </a:p>
        </p:txBody>
      </p:sp>
      <p:sp>
        <p:nvSpPr>
          <p:cNvPr id="11" name="Editable report text"/>
          <p:cNvSpPr txBox="1"/>
          <p:nvPr/>
        </p:nvSpPr>
        <p:spPr>
          <a:xfrm>
            <a:off x="822960" y="3063240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中长期目标：形成可验证的方案</a:t>
            </a:r>
          </a:p>
        </p:txBody>
      </p:sp>
      <p:sp>
        <p:nvSpPr>
          <p:cNvPr id="12" name="Editable report text"/>
          <p:cNvSpPr txBox="1"/>
          <p:nvPr/>
        </p:nvSpPr>
        <p:spPr>
          <a:xfrm>
            <a:off x="822960" y="3529584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连接数据结构、处理流程和实验指标，说明设计中的每一步负责什么，以及什么结果能够支持或否定当前判断。</a:t>
            </a:r>
          </a:p>
        </p:txBody>
      </p:sp>
      <p:sp>
        <p:nvSpPr>
          <p:cNvPr id="13" name="Editable report text"/>
          <p:cNvSpPr txBox="1"/>
          <p:nvPr/>
        </p:nvSpPr>
        <p:spPr>
          <a:xfrm>
            <a:off x="822960" y="4544568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长期目标：完成可复查的研究</a:t>
            </a:r>
          </a:p>
        </p:txBody>
      </p:sp>
      <p:sp>
        <p:nvSpPr>
          <p:cNvPr id="14" name="Editable report text"/>
          <p:cNvSpPr txBox="1"/>
          <p:nvPr/>
        </p:nvSpPr>
        <p:spPr>
          <a:xfrm>
            <a:off x="822960" y="5010912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持续整理相关工作、代码、实验记录和论文文字，让每次汇报都能看出新增内容，并为后续论文提供可追溯的证据。</a:t>
            </a:r>
          </a:p>
        </p:txBody>
      </p:sp>
      <p:sp>
        <p:nvSpPr>
          <p:cNvPr id="15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</p:spTree>
  </p:cSld>
  <p:clrMapOvr>
    <a:masterClrMapping/>
  </p:clrMapOvr>
</p:sld>
</file>

<file path=ppt/slides/report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本周研究的问题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Editable report text"/>
          <p:cNvSpPr txBox="1"/>
          <p:nvPr/>
        </p:nvSpPr>
        <p:spPr>
          <a:xfrm>
            <a:off x="822960" y="169164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假设应用需要判断一项资格是否仍然有效。注册和撤销会改变状态，查询需要取得足够新的依据，才能给出符合要求的判断。</a:t>
            </a:r>
          </a:p>
        </p:txBody>
      </p:sp>
      <p:sp>
        <p:nvSpPr>
          <p:cNvPr id="10" name="Editable report text"/>
          <p:cNvSpPr txBox="1"/>
          <p:nvPr/>
        </p:nvSpPr>
        <p:spPr>
          <a:xfrm>
            <a:off x="822960" y="324612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已有数据可能尚未包含最近一次变化。例如，记录中仍显示某项资格有效，但系统已经接受了一次撤销。这个例子说明了本周要研究的状态差异。</a:t>
            </a:r>
          </a:p>
        </p:txBody>
      </p:sp>
      <p:sp>
        <p:nvSpPr>
          <p:cNvPr id="11" name="Editable report text"/>
          <p:cNvSpPr txBox="1"/>
          <p:nvPr/>
        </p:nvSpPr>
        <p:spPr>
          <a:xfrm>
            <a:off x="822960" y="480060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汇报时先解释这件事为什么会发生，再介绍现有工作如何处理，最后说明本方案准备补充哪一部分。</a:t>
            </a:r>
          </a:p>
        </p:txBody>
      </p:sp>
      <p:sp>
        <p:nvSpPr>
          <p:cNvPr id="12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</p:spTree>
  </p:cSld>
  <p:clrMapOvr>
    <a:masterClrMapping/>
  </p:clrMapOvr>
</p:sld>
</file>

<file path=ppt/slides/report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已有工作与本周研究范围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Editable report text"/>
          <p:cNvSpPr txBox="1"/>
          <p:nvPr/>
        </p:nvSpPr>
        <p:spPr>
          <a:xfrm>
            <a:off x="758952" y="132588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先准确说明已有工作具备的能力，再明确本周准备核对的问题。下面的分类仅演示表格结构。</a:t>
            </a:r>
          </a:p>
        </p:txBody>
      </p:sp>
      <p:graphicFrame>
        <p:nvGraphicFramePr>
          <p:cNvPr id="90" name="Editable evidence table"/>
          <p:cNvGraphicFramePr/>
          <p:nvPr/>
        </p:nvGraphicFramePr>
        <p:xfrm>
          <a:off x="749808" y="2331720"/>
          <a:ext cx="10698480" cy="2880360"/>
        </p:xfrm>
        <a:graphic>
          <a:graphicData uri="http://schemas.openxmlformats.org/drawingml/2006/main/table">
            <a:tbl>
              <a:tblPr firstRow="1" bandRow="0"/>
              <a:tblGrid>
                <a:gridCol w="2240280"/>
                <a:gridCol w="4069080"/>
                <a:gridCol w="4389120"/>
              </a:tblGrid>
              <a:tr h="720090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比较对象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已知能力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245680"/>
                          </a:solidFill>
                          <a:latin typeface="Times New Roman"/>
                          <a:ea typeface="宋体"/>
                        </a:rPr>
                        <a:t>本周关注的问题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E9F0F5"/>
                    </a:solidFill>
                  </a:tcPr>
                </a:tc>
              </a:tr>
              <a:tr h="720090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工作 A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依据原文填写，不推测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它解决了什么场景？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工作 B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列出机制及适用条件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哪些条件与本研究不同？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本周方案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只写已经实现的能力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0000" rIns="70000" tIns="35000" bIns="35000"/>
                    <a:lstStyle/>
                    <a:p>
                      <a:pPr algn="l">
                        <a:buNone/>
                        <a:lnSpc>
                          <a:spcPct val="110000"/>
                        </a:lnSpc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</a:rPr>
                        <a:t>还需要什么证据？</a:t>
                      </a:r>
                    </a:p>
                  </a:txBody>
                  <a:tcPr marL="90000" marR="70000" marT="35000" marB="35000" anchor="ctr">
                    <a:lnL w="12700">
                      <a:solidFill>
                        <a:srgbClr val="A9BCCB"/>
                      </a:solidFill>
                    </a:lnL>
                    <a:lnR w="12700">
                      <a:solidFill>
                        <a:srgbClr val="A9BCCB"/>
                      </a:solidFill>
                    </a:lnR>
                    <a:lnT w="12700">
                      <a:solidFill>
                        <a:srgbClr val="A9BCCB"/>
                      </a:solidFill>
                    </a:lnT>
                    <a:lnB w="12700">
                      <a:solidFill>
                        <a:srgbClr val="A9BC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Editable report text"/>
          <p:cNvSpPr txBox="1"/>
          <p:nvPr/>
        </p:nvSpPr>
        <p:spPr>
          <a:xfrm>
            <a:off x="777240" y="5632704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比较机制、条件与证据，避免仅凭名称给现有工作下结论。</a:t>
            </a:r>
          </a:p>
        </p:txBody>
      </p:sp>
      <p:sp>
        <p:nvSpPr>
          <p:cNvPr id="92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</p:spTree>
  </p:cSld>
  <p:clrMapOvr>
    <a:masterClrMapping/>
  </p:clrMapOvr>
</p:sld>
</file>

<file path=ppt/slides/report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4" name="Attached process connector"/>
          <p:cNvCxnSpPr>
            <a:stCxn id="11" idx="3"/>
            <a:endCxn id="12" idx="1"/>
          </p:cNvCxnSpPr>
          <p:nvPr/>
        </p:nvCxnSpPr>
        <p:spPr>
          <a:xfrm>
            <a:off x="7674864" y="3177540"/>
            <a:ext cx="566928" cy="0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cxnSp>
        <p:nvCxnSpPr>
          <p:cNvPr id="13" name="Attached process connector"/>
          <p:cNvCxnSpPr>
            <a:stCxn id="10" idx="3"/>
            <a:endCxn id="11" idx="1"/>
          </p:cNvCxnSpPr>
          <p:nvPr/>
        </p:nvCxnSpPr>
        <p:spPr>
          <a:xfrm>
            <a:off x="3965448" y="3177540"/>
            <a:ext cx="566928" cy="0"/>
          </a:xfrm>
          <a:prstGeom prst="line">
            <a:avLst/>
          </a:prstGeom>
          <a:ln w="15240">
            <a:solidFill>
              <a:srgbClr val="245680"/>
            </a:solidFill>
            <a:tailEnd type="triangle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系统处理流程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Editable report text"/>
          <p:cNvSpPr txBox="1"/>
          <p:nvPr/>
        </p:nvSpPr>
        <p:spPr>
          <a:xfrm>
            <a:off x="758952" y="132588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沿着一条请求说明系统做了什么。箭头表示数据或控制如何传递，模块中的文字可以独立编辑。</a:t>
            </a:r>
          </a:p>
        </p:txBody>
      </p:sp>
      <p:sp>
        <p:nvSpPr>
          <p:cNvPr id="10" name="Editable report text"/>
          <p:cNvSpPr txBox="1"/>
          <p:nvPr/>
        </p:nvSpPr>
        <p:spPr>
          <a:xfrm>
            <a:off x="822960" y="2651760"/>
            <a:ext cx="3142488" cy="1051560"/>
          </a:xfrm>
          <a:prstGeom prst="rect">
            <a:avLst/>
          </a:prstGeom>
          <a:ln w="12700">
            <a:solidFill>
              <a:srgbClr val="245680"/>
            </a:solidFill>
          </a:ln>
          <a:solidFill>
            <a:srgbClr val="E9F2FA"/>
          </a:solidFill>
        </p:spPr>
        <p:txBody>
          <a:bodyPr anchor="ctr" wrap="square" lIns="54864" rIns="54864" tIns="54864" bIns="5486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请求输入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检查合法性</a:t>
            </a:r>
          </a:p>
        </p:txBody>
      </p:sp>
      <p:sp>
        <p:nvSpPr>
          <p:cNvPr id="11" name="Editable report text"/>
          <p:cNvSpPr txBox="1"/>
          <p:nvPr/>
        </p:nvSpPr>
        <p:spPr>
          <a:xfrm>
            <a:off x="4532376" y="2651760"/>
            <a:ext cx="3142488" cy="1051560"/>
          </a:xfrm>
          <a:prstGeom prst="rect">
            <a:avLst/>
          </a:prstGeom>
          <a:ln w="12700">
            <a:solidFill>
              <a:srgbClr val="A46A25"/>
            </a:solidFill>
          </a:ln>
          <a:solidFill>
            <a:srgbClr val="FFF2DF"/>
          </a:solidFill>
        </p:spPr>
        <p:txBody>
          <a:bodyPr anchor="ctr" wrap="square" lIns="54864" rIns="54864" tIns="54864" bIns="5486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状态记录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保存已接受变化</a:t>
            </a:r>
          </a:p>
        </p:txBody>
      </p:sp>
      <p:sp>
        <p:nvSpPr>
          <p:cNvPr id="12" name="Editable report text"/>
          <p:cNvSpPr txBox="1"/>
          <p:nvPr/>
        </p:nvSpPr>
        <p:spPr>
          <a:xfrm>
            <a:off x="8241792" y="2651760"/>
            <a:ext cx="3142488" cy="1051560"/>
          </a:xfrm>
          <a:prstGeom prst="rect">
            <a:avLst/>
          </a:prstGeom>
          <a:ln w="12700">
            <a:solidFill>
              <a:srgbClr val="3D7244"/>
            </a:solidFill>
          </a:ln>
          <a:solidFill>
            <a:srgbClr val="ECF4EA"/>
          </a:solidFill>
        </p:spPr>
        <p:txBody>
          <a:bodyPr anchor="ctr" wrap="square" lIns="54864" rIns="54864" tIns="54864" bIns="54864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查询判断</a:t>
            </a:r>
          </a:p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核对当前依据</a:t>
            </a:r>
          </a:p>
        </p:txBody>
      </p:sp>
      <p:sp>
        <p:nvSpPr>
          <p:cNvPr id="15" name="Editable report text"/>
          <p:cNvSpPr txBox="1"/>
          <p:nvPr/>
        </p:nvSpPr>
        <p:spPr>
          <a:xfrm>
            <a:off x="822960" y="4297680"/>
            <a:ext cx="10561320" cy="96012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正式汇报需要补充每一步的输入、输出和失败情况。如果保存、发布和外部确认属于不同进度，应分别解释。</a:t>
            </a:r>
          </a:p>
        </p:txBody>
      </p:sp>
      <p:sp>
        <p:nvSpPr>
          <p:cNvPr id="16" name="Editable report text"/>
          <p:cNvSpPr txBox="1"/>
          <p:nvPr/>
        </p:nvSpPr>
        <p:spPr>
          <a:xfrm>
            <a:off x="822960" y="5669280"/>
            <a:ext cx="10561320" cy="5943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用同一个例子走完整个流程，检查正文、图和算法能否得到一致结果。</a:t>
            </a:r>
          </a:p>
        </p:txBody>
      </p:sp>
      <p:sp>
        <p:nvSpPr>
          <p:cNvPr id="17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5</a:t>
            </a:r>
          </a:p>
        </p:txBody>
      </p:sp>
    </p:spTree>
  </p:cSld>
  <p:clrMapOvr>
    <a:masterClrMapping/>
  </p:clrMapOvr>
</p:sld>
</file>

<file path=ppt/slides/report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算法描述与处理步骤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Editable report text"/>
          <p:cNvSpPr txBox="1"/>
          <p:nvPr/>
        </p:nvSpPr>
        <p:spPr>
          <a:xfrm>
            <a:off x="777240" y="132588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这一页展示算法的写法。正式汇报应与论文中的输入、输出、判断条件和错误分支保持一致。</a:t>
            </a:r>
          </a:p>
        </p:txBody>
      </p:sp>
      <p:sp>
        <p:nvSpPr>
          <p:cNvPr id="10" name="Editable report text"/>
          <p:cNvSpPr txBox="1"/>
          <p:nvPr/>
        </p:nvSpPr>
        <p:spPr>
          <a:xfrm>
            <a:off x="777240" y="2194560"/>
            <a:ext cx="1065276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Algorithm 1: 查询判断流程（结构示例）</a:t>
            </a:r>
          </a:p>
        </p:txBody>
      </p:sp>
      <p:sp>
        <p:nvSpPr>
          <p:cNvPr id="11" name="Editable report text"/>
          <p:cNvSpPr txBox="1"/>
          <p:nvPr/>
        </p:nvSpPr>
        <p:spPr>
          <a:xfrm>
            <a:off x="841248" y="281635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12" name="Editable report text"/>
          <p:cNvSpPr txBox="1"/>
          <p:nvPr/>
        </p:nvSpPr>
        <p:spPr>
          <a:xfrm>
            <a:off x="1371600" y="281635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输入：查询对象、最低状态要求和待验证资料</a:t>
            </a:r>
          </a:p>
        </p:txBody>
      </p:sp>
      <p:sp>
        <p:nvSpPr>
          <p:cNvPr id="13" name="Editable report text"/>
          <p:cNvSpPr txBox="1"/>
          <p:nvPr/>
        </p:nvSpPr>
        <p:spPr>
          <a:xfrm>
            <a:off x="841248" y="31821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14" name="Editable report text"/>
          <p:cNvSpPr txBox="1"/>
          <p:nvPr/>
        </p:nvSpPr>
        <p:spPr>
          <a:xfrm>
            <a:off x="1371600" y="318211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检查输入是否合法，并固定本次使用的资料</a:t>
            </a:r>
          </a:p>
        </p:txBody>
      </p:sp>
      <p:sp>
        <p:nvSpPr>
          <p:cNvPr id="15" name="Editable report text"/>
          <p:cNvSpPr txBox="1"/>
          <p:nvPr/>
        </p:nvSpPr>
        <p:spPr>
          <a:xfrm>
            <a:off x="841248" y="354787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16" name="Editable report text"/>
          <p:cNvSpPr txBox="1"/>
          <p:nvPr/>
        </p:nvSpPr>
        <p:spPr>
          <a:xfrm>
            <a:off x="1371600" y="35478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若资料不可用或不满足要求，返回相应失败状态</a:t>
            </a:r>
          </a:p>
        </p:txBody>
      </p:sp>
      <p:sp>
        <p:nvSpPr>
          <p:cNvPr id="17" name="Editable report text"/>
          <p:cNvSpPr txBox="1"/>
          <p:nvPr/>
        </p:nvSpPr>
        <p:spPr>
          <a:xfrm>
            <a:off x="841248" y="391363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  <p:sp>
        <p:nvSpPr>
          <p:cNvPr id="18" name="Editable report text"/>
          <p:cNvSpPr txBox="1"/>
          <p:nvPr/>
        </p:nvSpPr>
        <p:spPr>
          <a:xfrm>
            <a:off x="1371600" y="391363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按论文定义的顺序核对事件或证明</a:t>
            </a:r>
          </a:p>
        </p:txBody>
      </p:sp>
      <p:sp>
        <p:nvSpPr>
          <p:cNvPr id="19" name="Editable report text"/>
          <p:cNvSpPr txBox="1"/>
          <p:nvPr/>
        </p:nvSpPr>
        <p:spPr>
          <a:xfrm>
            <a:off x="841248" y="427939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5</a:t>
            </a:r>
          </a:p>
        </p:txBody>
      </p:sp>
      <p:sp>
        <p:nvSpPr>
          <p:cNvPr id="20" name="Editable report text"/>
          <p:cNvSpPr txBox="1"/>
          <p:nvPr/>
        </p:nvSpPr>
        <p:spPr>
          <a:xfrm>
            <a:off x="1371600" y="42793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返回状态结果，并说明实际使用的数据范围</a:t>
            </a:r>
          </a:p>
        </p:txBody>
      </p:sp>
      <p:sp>
        <p:nvSpPr>
          <p:cNvPr id="21" name="Editable report text"/>
          <p:cNvSpPr txBox="1"/>
          <p:nvPr/>
        </p:nvSpPr>
        <p:spPr>
          <a:xfrm>
            <a:off x="777240" y="5806440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0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标题说明算法解决的问题；步骤需要写出条件和返回值，不能只列模块名称。</a:t>
            </a:r>
          </a:p>
        </p:txBody>
      </p:sp>
      <p:sp>
        <p:nvSpPr>
          <p:cNvPr id="22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6</a:t>
            </a:r>
          </a:p>
        </p:txBody>
      </p:sp>
    </p:spTree>
  </p:cSld>
  <p:clrMapOvr>
    <a:masterClrMapping/>
  </p:clrMapOvr>
</p:sld>
</file>

<file path=ppt/slides/report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2880"/>
            <a:ext cx="8229600" cy="585216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2800" b="0" lang="zh-CN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实验图表的表达方式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2313" y="994523"/>
            <a:ext cx="1103651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45" y="168479"/>
            <a:ext cx="2653783" cy="771449"/>
          </a:xfrm>
          <a:prstGeom prst="rect">
            <a:avLst/>
          </a:prstGeom>
        </p:spPr>
      </p:pic>
      <p:sp>
        <p:nvSpPr>
          <p:cNvPr id="9" name="Editable report text"/>
          <p:cNvSpPr txBox="1"/>
          <p:nvPr/>
        </p:nvSpPr>
        <p:spPr>
          <a:xfrm>
            <a:off x="777240" y="1307592"/>
            <a:ext cx="1065276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仅示例数据，不是实验结果</a:t>
            </a:r>
          </a:p>
        </p:txBody>
      </p:sp>
      <p:graphicFrame>
        <p:nvGraphicFramePr>
          <p:cNvPr id="1097" name="Editable result chart 1007"/>
          <p:cNvGraphicFramePr/>
          <p:nvPr/>
        </p:nvGraphicFramePr>
        <p:xfrm>
          <a:off x="749808" y="1947672"/>
          <a:ext cx="10698480" cy="3566160"/>
        </p:xfrm>
        <a:graphic>
          <a:graphicData uri="http://schemas.openxmlformats.org/drawingml/2006/chart">
            <c:chart xmlns:c="http://schemas.openxmlformats.org/drawingml/2006/chart" r:id="rIdE16Chart1007"/>
          </a:graphicData>
        </a:graphic>
      </p:graphicFrame>
      <p:sp>
        <p:nvSpPr>
          <p:cNvPr id="1098" name="Editable report text"/>
          <p:cNvSpPr txBox="1"/>
          <p:nvPr/>
        </p:nvSpPr>
        <p:spPr>
          <a:xfrm>
            <a:off x="777240" y="5696712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100" b="1" lang="zh-CN">
                <a:solidFill>
                  <a:srgbClr val="245680"/>
                </a:solidFill>
                <a:latin typeface="Times New Roman"/>
                <a:ea typeface="宋体"/>
                <a:cs typeface="宋体"/>
              </a:rPr>
              <a:t>正式结果需同时交代指标、单位、共同条件、重复次数和局限。</a:t>
            </a:r>
          </a:p>
        </p:txBody>
      </p:sp>
      <p:sp>
        <p:nvSpPr>
          <p:cNvPr id="1099" name="Editable report text"/>
          <p:cNvSpPr txBox="1"/>
          <p:nvPr/>
        </p:nvSpPr>
        <p:spPr>
          <a:xfrm>
            <a:off x="777240" y="632764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15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来源：本文件手工构造的排版示例；请替换为已审核实验数据</a:t>
            </a:r>
          </a:p>
        </p:txBody>
      </p:sp>
      <p:sp>
        <p:nvSpPr>
          <p:cNvPr id="1100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7</a:t>
            </a:r>
          </a:p>
        </p:txBody>
      </p:sp>
    </p:spTree>
  </p:cSld>
  <p:clrMapOvr>
    <a:masterClrMapping/>
  </p:clrMapOvr>
</p:sld>
</file>

<file path=ppt/slides/report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94360" y="182880"/>
            <a:ext cx="10972800" cy="694944"/>
          </a:xfrm>
          <a:prstGeom prst="rect">
            <a:avLst/>
          </a:prstGeom>
          <a:noFill/>
        </p:spPr>
        <p:txBody>
          <a:bodyPr wrap="square" rtlCol="0" anchor="t" lIns="0" rIns="0" tIns="0" bIns="0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40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本周学习体会与反思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ditable report text"/>
          <p:cNvSpPr txBox="1"/>
          <p:nvPr/>
        </p:nvSpPr>
        <p:spPr>
          <a:xfrm>
            <a:off x="822960" y="169164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本周的主要收获应连接到具体研究动作。例如，通过同一个输入检查正文、流程图和算法，可以发现术语不一致、判断条件缺失或处理顺序不清楚的问题。</a:t>
            </a:r>
          </a:p>
        </p:txBody>
      </p:sp>
      <p:sp>
        <p:nvSpPr>
          <p:cNvPr id="10" name="Editable report text"/>
          <p:cNvSpPr txBox="1"/>
          <p:nvPr/>
        </p:nvSpPr>
        <p:spPr>
          <a:xfrm>
            <a:off x="822960" y="324612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解释实验时应同时关注收益和代价。某一条件下的改善不代表所有场景都有优势，输入规模、测量区间和实际执行方式都会影响结果。</a:t>
            </a:r>
          </a:p>
        </p:txBody>
      </p:sp>
      <p:sp>
        <p:nvSpPr>
          <p:cNvPr id="11" name="Editable report text"/>
          <p:cNvSpPr txBox="1"/>
          <p:nvPr/>
        </p:nvSpPr>
        <p:spPr>
          <a:xfrm>
            <a:off x="822960" y="4800600"/>
            <a:ext cx="10561320" cy="129844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把仍未回答的问题记录下来，下一轮就能围绕明确缺口补证据，也能避免每周重复讲已经完成的内容。</a:t>
            </a:r>
          </a:p>
        </p:txBody>
      </p:sp>
      <p:sp>
        <p:nvSpPr>
          <p:cNvPr id="12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8</a:t>
            </a:r>
          </a:p>
        </p:txBody>
      </p:sp>
    </p:spTree>
  </p:cSld>
  <p:clrMapOvr>
    <a:masterClrMapping/>
  </p:clrMapOvr>
</p:sld>
</file>

<file path=ppt/slides/report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94360" y="182880"/>
            <a:ext cx="10972800" cy="694944"/>
          </a:xfrm>
          <a:prstGeom prst="rect">
            <a:avLst/>
          </a:prstGeom>
          <a:noFill/>
        </p:spPr>
        <p:txBody>
          <a:bodyPr wrap="square" rtlCol="0" anchor="t" lIns="0" rIns="0" tIns="0" bIns="0">
            <a:noAutofit/>
          </a:bodyPr>
          <a:lstStyle/>
          <a:p>
            <a:pPr algn="ctr" marL="0" indent="0">
              <a:buNone/>
              <a:lnSpc>
                <a:spcPct val="115000"/>
              </a:lnSpc>
              <a:spcAft>
                <a:spcPts val="0"/>
              </a:spcAft>
            </a:pPr>
            <a:r>
              <a:rPr sz="40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下周科研计划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ditable report text"/>
          <p:cNvSpPr txBox="1"/>
          <p:nvPr/>
        </p:nvSpPr>
        <p:spPr>
          <a:xfrm>
            <a:off x="822960" y="1581912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完善当前方案的关键说明</a:t>
            </a:r>
          </a:p>
        </p:txBody>
      </p:sp>
      <p:sp>
        <p:nvSpPr>
          <p:cNvPr id="10" name="Editable report text"/>
          <p:cNvSpPr txBox="1"/>
          <p:nvPr/>
        </p:nvSpPr>
        <p:spPr>
          <a:xfrm>
            <a:off x="822960" y="2048256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补全输入、输出、异常分支和数据更新过程，并检查流程图、算法及中英文文字是否采用同一套定义。</a:t>
            </a:r>
          </a:p>
        </p:txBody>
      </p:sp>
      <p:sp>
        <p:nvSpPr>
          <p:cNvPr id="11" name="Editable report text"/>
          <p:cNvSpPr txBox="1"/>
          <p:nvPr/>
        </p:nvSpPr>
        <p:spPr>
          <a:xfrm>
            <a:off x="822960" y="3063240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围绕明确问题补充实验</a:t>
            </a:r>
          </a:p>
        </p:txBody>
      </p:sp>
      <p:sp>
        <p:nvSpPr>
          <p:cNvPr id="12" name="Editable report text"/>
          <p:cNvSpPr txBox="1"/>
          <p:nvPr/>
        </p:nvSpPr>
        <p:spPr>
          <a:xfrm>
            <a:off x="822960" y="3529584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优先补测当前证据不足的条件，说明每组实验控制了什么变量、比较什么指标，以及出现何种结果时需要调整方案。</a:t>
            </a:r>
          </a:p>
        </p:txBody>
      </p:sp>
      <p:sp>
        <p:nvSpPr>
          <p:cNvPr id="13" name="Editable report text"/>
          <p:cNvSpPr txBox="1"/>
          <p:nvPr/>
        </p:nvSpPr>
        <p:spPr>
          <a:xfrm>
            <a:off x="822960" y="4544568"/>
            <a:ext cx="10561320" cy="3931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1" lang="zh-CN">
                <a:solidFill>
                  <a:srgbClr val="A23838"/>
                </a:solidFill>
                <a:latin typeface="Times New Roman"/>
                <a:ea typeface="宋体"/>
                <a:cs typeface="宋体"/>
              </a:rPr>
              <a:t>整理可复查的阶段产物</a:t>
            </a:r>
          </a:p>
        </p:txBody>
      </p:sp>
      <p:sp>
        <p:nvSpPr>
          <p:cNvPr id="14" name="Editable report text"/>
          <p:cNvSpPr txBox="1"/>
          <p:nvPr/>
        </p:nvSpPr>
        <p:spPr>
          <a:xfrm>
            <a:off x="822960" y="5010912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l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2200" b="0" lang="zh-CN">
                <a:solidFill>
                  <a:srgbClr val="263747"/>
                </a:solidFill>
                <a:latin typeface="Times New Roman"/>
                <a:ea typeface="宋体"/>
                <a:cs typeface="宋体"/>
              </a:rPr>
              <a:t>同步保存代码、配置、原始数据、统计脚本和论文改动，形成下一次汇报能够直接使用的图表及说明。</a:t>
            </a:r>
          </a:p>
        </p:txBody>
      </p:sp>
      <p:sp>
        <p:nvSpPr>
          <p:cNvPr id="15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9</a:t>
            </a:r>
          </a:p>
        </p:txBody>
      </p:sp>
    </p:spTree>
  </p:cSld>
  <p:clrMapOvr>
    <a:masterClrMapping/>
  </p:clrMapOvr>
</p:sld>
</file>

<file path=ppt/slides/report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3" descr="e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175" y="2941110"/>
            <a:ext cx="1009651" cy="23050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595755" y="253154"/>
            <a:ext cx="10363200" cy="196003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000000"/>
                </a:solidFill>
                <a:latin typeface="Microsoft YaHei"/>
                <a:ea typeface="Microsoft YaHei"/>
              </a:rPr>
              <a:t>谢谢，敬请批评指正！</a:t>
            </a:r>
          </a:p>
        </p:txBody>
      </p:sp>
      <p:sp>
        <p:nvSpPr>
          <p:cNvPr id="7" name="Editable report text"/>
          <p:cNvSpPr txBox="1"/>
          <p:nvPr/>
        </p:nvSpPr>
        <p:spPr>
          <a:xfrm>
            <a:off x="11347704" y="6601968"/>
            <a:ext cx="292608" cy="1737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>
            <a:noAutofit/>
          </a:bodyPr>
          <a:lstStyle/>
          <a:p>
            <a:pPr algn="ctr" marL="0" indent="0">
              <a:buNone/>
              <a:lnSpc>
                <a:spcPct val="110000"/>
              </a:lnSpc>
              <a:spcAft>
                <a:spcPts val="0"/>
              </a:spcAft>
            </a:pPr>
            <a:r>
              <a:rPr sz="900" b="0" lang="zh-CN">
                <a:solidFill>
                  <a:srgbClr val="666666"/>
                </a:solidFill>
                <a:latin typeface="Times New Roman"/>
                <a:ea typeface="宋体"/>
                <a:cs typeface="宋体"/>
              </a:rPr>
              <a:t>10</a:t>
            </a:r>
          </a:p>
        </p:txBody>
      </p:sp>
    </p:spTree>
  </p:cSld>
  <p:clrMapOvr>
    <a:masterClrMapping/>
  </p:clrMapOvr>
</p:sld>
</file>

<file path=ppt/tags/tag4.xml><?xml version="1.0" encoding="utf-8"?>
<p:tagLst xmlns:p="http://schemas.openxmlformats.org/presentationml/2006/main">
  <p:tag name="COMMONDATA" val="eyJoZGlkIjoiMGYzOGJjZTRlMmYzYjYwOWRiMGFmYzhlYTUxZmM1NzUifQ=="/>
  <p:tag name="RESOURCE_RECORD_KEY" val="{&quot;70&quot;:[3314408,3312407]}"/>
</p:tagLst>
</file>

<file path=ppt/theme/theme1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5875">
          <a:solidFill>
            <a:srgbClr val="FF0000"/>
          </a:solidFill>
          <a:prstDash val="sysDash"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square" rtlCol="0">
        <a:spAutoFit/>
      </a:bodyPr>
      <a:lstStyle>
        <a:defPPr algn="ctr">
          <a:defRPr sz="17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WPS 演示</Application>
  <PresentationFormat>宽屏</PresentationFormat>
  <Slides>10</Slides>
  <Notes>10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研究课题名称</dc:title>
  <dc:creator>Administrator</dc:creator>
  <cp:lastModifiedBy>北冥有鱼</cp:lastModifiedBy>
  <cp:revision>2940</cp:revision>
  <cp:lastPrinted>2024-11-14T07:01:00Z</cp:lastPrinted>
  <dcterms:created xsi:type="dcterms:W3CDTF">2024-11-14T07:01:00Z</dcterms:created>
  <dcterms:modified xsi:type="dcterms:W3CDTF">2026-10-21T11:27:28Z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23CA4145CDCB412F9DC2DE25ABA641B5_13</vt:lpwstr>
  </property>
</Properties>
</file>